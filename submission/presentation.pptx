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old versions sitting in lockfiles after an advisory is published. This tool reads the versions the repo already resolved, asks OSV, and names the upgrade. The rest of the talk is how that decision is made, and how it is stopped from being silenced.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motivation is a repeatable check a CI job can run, with the same result on the command line and on the page. Do not promise reachability. The tool reports known versions, not whether the function is called.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four boxes. Stress that the page is not a second implementation. run.py is shared. A remote clone is deleted. A folder the user already has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choices to say out loud. Development-only npm packages are labelled by walking the graph, not by trusting a missing dev flag. Fixed versions are ordered the way that package manager orders them, so the recommendation is one upgrade. Unchecked rows are printed and do not fail the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claim a live count of advisories in a public repo. If there is time, run serve.bat on a local fixture. The numbers on this slide come from tests/test_scan.py, written up in submission/test-evidence.md.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Detection is the OSV match. The control we validated is that accepting a finding does not clear CI. The remediation is the recommended version. A later scan compared with the first shows whether that advisory is actually gone. compare_reports uses ecosystem and name as identity.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limit that matters: the tool is honest when it cannot resolve a version, and it will not hide a production finding behind an ignore click.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42C"/>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C6B62"/>
          </a:solidFill>
          <a:ln/>
        </p:spPr>
      </p:sp>
      <p:sp>
        <p:nvSpPr>
          <p:cNvPr id="3" name="Text 1"/>
          <p:cNvSpPr/>
          <p:nvPr/>
        </p:nvSpPr>
        <p:spPr>
          <a:xfrm>
            <a:off x="640080" y="1417320"/>
            <a:ext cx="7315200" cy="292608"/>
          </a:xfrm>
          <a:prstGeom prst="rect">
            <a:avLst/>
          </a:prstGeom>
          <a:noFill/>
          <a:ln/>
        </p:spPr>
        <p:txBody>
          <a:bodyPr wrap="square" lIns="0" tIns="0" rIns="0" bIns="0" rtlCol="0" anchor="ctr"/>
          <a:lstStyle/>
          <a:p>
            <a:pPr indent="0" marL="0">
              <a:buNone/>
            </a:pPr>
            <a:r>
              <a:rPr lang="en-US" sz="1400" spc="160" kern="0" dirty="0">
                <a:solidFill>
                  <a:srgbClr val="8ED9CE"/>
                </a:solidFill>
                <a:latin typeface="Consolas" pitchFamily="34" charset="0"/>
                <a:ea typeface="Consolas" pitchFamily="34" charset="-122"/>
                <a:cs typeface="Consolas" pitchFamily="34" charset="-120"/>
              </a:rPr>
              <a:t>SUPPLY-SCAN</a:t>
            </a:r>
            <a:endParaRPr lang="en-US" sz="1400" dirty="0"/>
          </a:p>
        </p:txBody>
      </p:sp>
      <p:sp>
        <p:nvSpPr>
          <p:cNvPr id="4" name="Text 2"/>
          <p:cNvSpPr/>
          <p:nvPr/>
        </p:nvSpPr>
        <p:spPr>
          <a:xfrm>
            <a:off x="640080" y="1828800"/>
            <a:ext cx="10424160" cy="1554480"/>
          </a:xfrm>
          <a:prstGeom prst="rect">
            <a:avLst/>
          </a:prstGeom>
          <a:noFill/>
          <a:ln/>
        </p:spPr>
        <p:txBody>
          <a:bodyPr wrap="square" lIns="0" tIns="0" rIns="0" bIns="0" rtlCol="0" anchor="ctr"/>
          <a:lstStyle/>
          <a:p>
            <a:pPr indent="0" marL="0">
              <a:buNone/>
            </a:pPr>
            <a:r>
              <a:rPr lang="en-US" sz="3600" dirty="0">
                <a:solidFill>
                  <a:srgbClr val="FFFFFF"/>
                </a:solidFill>
                <a:latin typeface="Georgia" pitchFamily="34" charset="0"/>
                <a:ea typeface="Georgia" pitchFamily="34" charset="-122"/>
                <a:cs typeface="Georgia" pitchFamily="34" charset="-120"/>
              </a:rPr>
              <a:t>Known-vulnerable versions,</a:t>
            </a:r>
            <a:endParaRPr lang="en-US" sz="3600" dirty="0"/>
          </a:p>
          <a:p>
            <a:pPr indent="0" marL="0">
              <a:buNone/>
            </a:pPr>
            <a:r>
              <a:rPr lang="en-US" sz="3600" dirty="0">
                <a:solidFill>
                  <a:srgbClr val="FFFFFF"/>
                </a:solidFill>
                <a:latin typeface="Georgia" pitchFamily="34" charset="0"/>
                <a:ea typeface="Georgia" pitchFamily="34" charset="-122"/>
                <a:cs typeface="Georgia" pitchFamily="34" charset="-120"/>
              </a:rPr>
              <a:t>and the release that fixes them.</a:t>
            </a:r>
            <a:endParaRPr lang="en-US" sz="3600" dirty="0"/>
          </a:p>
        </p:txBody>
      </p:sp>
      <p:sp>
        <p:nvSpPr>
          <p:cNvPr id="5" name="Text 3"/>
          <p:cNvSpPr/>
          <p:nvPr/>
        </p:nvSpPr>
        <p:spPr>
          <a:xfrm>
            <a:off x="640080" y="3566160"/>
            <a:ext cx="9601200" cy="685800"/>
          </a:xfrm>
          <a:prstGeom prst="rect">
            <a:avLst/>
          </a:prstGeom>
          <a:noFill/>
          <a:ln/>
        </p:spPr>
        <p:txBody>
          <a:bodyPr wrap="square" lIns="0" tIns="0" rIns="0" bIns="0" rtlCol="0" anchor="ctr"/>
          <a:lstStyle/>
          <a:p>
            <a:pPr indent="0" marL="0">
              <a:buNone/>
            </a:pPr>
            <a:r>
              <a:rPr lang="en-US" sz="1800" dirty="0">
                <a:solidFill>
                  <a:srgbClr val="D5E4E8"/>
                </a:solidFill>
                <a:latin typeface="Calibri" pitchFamily="34" charset="0"/>
                <a:ea typeface="Calibri" pitchFamily="34" charset="-122"/>
                <a:cs typeface="Calibri" pitchFamily="34" charset="-120"/>
              </a:rPr>
              <a:t>A local scan of a git URL or a directory. Text, JSON, and a loopback page.</a:t>
            </a:r>
            <a:endParaRPr lang="en-US" sz="1800" dirty="0"/>
          </a:p>
          <a:p>
            <a:pPr indent="0" marL="0">
              <a:buNone/>
            </a:pPr>
            <a:r>
              <a:rPr lang="en-US" sz="1800" dirty="0">
                <a:solidFill>
                  <a:srgbClr val="D5E4E8"/>
                </a:solidFill>
                <a:latin typeface="Calibri" pitchFamily="34" charset="0"/>
                <a:ea typeface="Calibri" pitchFamily="34" charset="-122"/>
                <a:cs typeface="Calibri" pitchFamily="34" charset="-120"/>
              </a:rPr>
              <a:t>The same exit code on the command line and on the screen.</a:t>
            </a:r>
            <a:endParaRPr lang="en-US" sz="1800" dirty="0"/>
          </a:p>
        </p:txBody>
      </p:sp>
      <p:sp>
        <p:nvSpPr>
          <p:cNvPr id="6" name="Shape 4"/>
          <p:cNvSpPr/>
          <p:nvPr/>
        </p:nvSpPr>
        <p:spPr>
          <a:xfrm>
            <a:off x="640080" y="4709160"/>
            <a:ext cx="3246120" cy="1234440"/>
          </a:xfrm>
          <a:prstGeom prst="roundRect">
            <a:avLst>
              <a:gd name="adj" fmla="val 5926"/>
            </a:avLst>
          </a:prstGeom>
          <a:solidFill>
            <a:srgbClr val="21333C"/>
          </a:solidFill>
          <a:ln/>
        </p:spPr>
      </p:sp>
      <p:sp>
        <p:nvSpPr>
          <p:cNvPr id="7" name="Text 5"/>
          <p:cNvSpPr/>
          <p:nvPr/>
        </p:nvSpPr>
        <p:spPr>
          <a:xfrm>
            <a:off x="841248" y="4828032"/>
            <a:ext cx="1005840" cy="960120"/>
          </a:xfrm>
          <a:prstGeom prst="rect">
            <a:avLst/>
          </a:prstGeom>
          <a:noFill/>
          <a:ln/>
        </p:spPr>
        <p:txBody>
          <a:bodyPr wrap="square" lIns="0" tIns="0" rIns="0" bIns="0" rtlCol="0" anchor="ctr"/>
          <a:lstStyle/>
          <a:p>
            <a:pPr indent="0" marL="0">
              <a:buNone/>
            </a:pPr>
            <a:r>
              <a:rPr lang="en-US" sz="3600" dirty="0">
                <a:solidFill>
                  <a:srgbClr val="8ED9CE"/>
                </a:solidFill>
                <a:latin typeface="Georgia" pitchFamily="34" charset="0"/>
                <a:ea typeface="Georgia" pitchFamily="34" charset="-122"/>
                <a:cs typeface="Georgia" pitchFamily="34" charset="-120"/>
              </a:rPr>
              <a:t>0</a:t>
            </a:r>
            <a:endParaRPr lang="en-US" sz="3600" dirty="0"/>
          </a:p>
        </p:txBody>
      </p:sp>
      <p:sp>
        <p:nvSpPr>
          <p:cNvPr id="8" name="Text 6"/>
          <p:cNvSpPr/>
          <p:nvPr/>
        </p:nvSpPr>
        <p:spPr>
          <a:xfrm>
            <a:off x="1828800" y="4937760"/>
            <a:ext cx="1874520" cy="7772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Nothing failing</a:t>
            </a:r>
            <a:endParaRPr lang="en-US" sz="1600" dirty="0"/>
          </a:p>
        </p:txBody>
      </p:sp>
      <p:sp>
        <p:nvSpPr>
          <p:cNvPr id="9" name="Shape 7"/>
          <p:cNvSpPr/>
          <p:nvPr/>
        </p:nvSpPr>
        <p:spPr>
          <a:xfrm>
            <a:off x="4206240" y="4709160"/>
            <a:ext cx="3246120" cy="1234440"/>
          </a:xfrm>
          <a:prstGeom prst="roundRect">
            <a:avLst>
              <a:gd name="adj" fmla="val 5926"/>
            </a:avLst>
          </a:prstGeom>
          <a:solidFill>
            <a:srgbClr val="21333C"/>
          </a:solidFill>
          <a:ln/>
        </p:spPr>
      </p:sp>
      <p:sp>
        <p:nvSpPr>
          <p:cNvPr id="10" name="Text 8"/>
          <p:cNvSpPr/>
          <p:nvPr/>
        </p:nvSpPr>
        <p:spPr>
          <a:xfrm>
            <a:off x="4407408" y="4828032"/>
            <a:ext cx="1005840" cy="960120"/>
          </a:xfrm>
          <a:prstGeom prst="rect">
            <a:avLst/>
          </a:prstGeom>
          <a:noFill/>
          <a:ln/>
        </p:spPr>
        <p:txBody>
          <a:bodyPr wrap="square" lIns="0" tIns="0" rIns="0" bIns="0" rtlCol="0" anchor="ctr"/>
          <a:lstStyle/>
          <a:p>
            <a:pPr indent="0" marL="0">
              <a:buNone/>
            </a:pPr>
            <a:r>
              <a:rPr lang="en-US" sz="3600" dirty="0">
                <a:solidFill>
                  <a:srgbClr val="8ED9CE"/>
                </a:solidFill>
                <a:latin typeface="Georgia" pitchFamily="34" charset="0"/>
                <a:ea typeface="Georgia" pitchFamily="34" charset="-122"/>
                <a:cs typeface="Georgia" pitchFamily="34" charset="-120"/>
              </a:rPr>
              <a:t>1</a:t>
            </a:r>
            <a:endParaRPr lang="en-US" sz="3600" dirty="0"/>
          </a:p>
        </p:txBody>
      </p:sp>
      <p:sp>
        <p:nvSpPr>
          <p:cNvPr id="11" name="Text 9"/>
          <p:cNvSpPr/>
          <p:nvPr/>
        </p:nvSpPr>
        <p:spPr>
          <a:xfrm>
            <a:off x="5394960" y="4937760"/>
            <a:ext cx="1874520" cy="7772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Fail the build</a:t>
            </a:r>
            <a:endParaRPr lang="en-US" sz="1600" dirty="0"/>
          </a:p>
        </p:txBody>
      </p:sp>
      <p:sp>
        <p:nvSpPr>
          <p:cNvPr id="12" name="Shape 10"/>
          <p:cNvSpPr/>
          <p:nvPr/>
        </p:nvSpPr>
        <p:spPr>
          <a:xfrm>
            <a:off x="7772400" y="4709160"/>
            <a:ext cx="3246120" cy="1234440"/>
          </a:xfrm>
          <a:prstGeom prst="roundRect">
            <a:avLst>
              <a:gd name="adj" fmla="val 5926"/>
            </a:avLst>
          </a:prstGeom>
          <a:solidFill>
            <a:srgbClr val="21333C"/>
          </a:solidFill>
          <a:ln/>
        </p:spPr>
      </p:sp>
      <p:sp>
        <p:nvSpPr>
          <p:cNvPr id="13" name="Text 11"/>
          <p:cNvSpPr/>
          <p:nvPr/>
        </p:nvSpPr>
        <p:spPr>
          <a:xfrm>
            <a:off x="7973568" y="4828032"/>
            <a:ext cx="1005840" cy="960120"/>
          </a:xfrm>
          <a:prstGeom prst="rect">
            <a:avLst/>
          </a:prstGeom>
          <a:noFill/>
          <a:ln/>
        </p:spPr>
        <p:txBody>
          <a:bodyPr wrap="square" lIns="0" tIns="0" rIns="0" bIns="0" rtlCol="0" anchor="ctr"/>
          <a:lstStyle/>
          <a:p>
            <a:pPr indent="0" marL="0">
              <a:buNone/>
            </a:pPr>
            <a:r>
              <a:rPr lang="en-US" sz="3600" dirty="0">
                <a:solidFill>
                  <a:srgbClr val="8ED9CE"/>
                </a:solidFill>
                <a:latin typeface="Georgia" pitchFamily="34" charset="0"/>
                <a:ea typeface="Georgia" pitchFamily="34" charset="-122"/>
                <a:cs typeface="Georgia" pitchFamily="34" charset="-120"/>
              </a:rPr>
              <a:t>2</a:t>
            </a:r>
            <a:endParaRPr lang="en-US" sz="3600" dirty="0"/>
          </a:p>
        </p:txBody>
      </p:sp>
      <p:sp>
        <p:nvSpPr>
          <p:cNvPr id="14" name="Text 12"/>
          <p:cNvSpPr/>
          <p:nvPr/>
        </p:nvSpPr>
        <p:spPr>
          <a:xfrm>
            <a:off x="8961120" y="4937760"/>
            <a:ext cx="1874520" cy="7772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Could not scan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AFB"/>
        </a:solidFill>
      </p:bgPr>
    </p:bg>
    <p:spTree>
      <p:nvGrpSpPr>
        <p:cNvPr id="1" name=""/>
        <p:cNvGrpSpPr/>
        <p:nvPr/>
      </p:nvGrpSpPr>
      <p:grpSpPr>
        <a:xfrm>
          <a:off x="0" y="0"/>
          <a:ext cx="0" cy="0"/>
          <a:chOff x="0" y="0"/>
          <a:chExt cx="0" cy="0"/>
        </a:xfrm>
      </p:grpSpPr>
      <p:sp>
        <p:nvSpPr>
          <p:cNvPr id="2" name="Text 0"/>
          <p:cNvSpPr/>
          <p:nvPr/>
        </p:nvSpPr>
        <p:spPr>
          <a:xfrm>
            <a:off x="502920" y="292608"/>
            <a:ext cx="7315200" cy="256032"/>
          </a:xfrm>
          <a:prstGeom prst="rect">
            <a:avLst/>
          </a:prstGeom>
          <a:noFill/>
          <a:ln/>
        </p:spPr>
        <p:txBody>
          <a:bodyPr wrap="square" lIns="0" tIns="0" rIns="0" bIns="0" rtlCol="0" anchor="ctr"/>
          <a:lstStyle/>
          <a:p>
            <a:pPr indent="0" marL="0">
              <a:buNone/>
            </a:pPr>
            <a:r>
              <a:rPr lang="en-US" sz="1200" spc="120" kern="0" dirty="0">
                <a:solidFill>
                  <a:srgbClr val="0C6B62"/>
                </a:solidFill>
                <a:latin typeface="Consolas" pitchFamily="34" charset="0"/>
                <a:ea typeface="Consolas" pitchFamily="34" charset="-122"/>
                <a:cs typeface="Consolas" pitchFamily="34" charset="-120"/>
              </a:rPr>
              <a:t>PROBLEM</a:t>
            </a:r>
            <a:endParaRPr lang="en-US" sz="1200" dirty="0"/>
          </a:p>
        </p:txBody>
      </p:sp>
      <p:sp>
        <p:nvSpPr>
          <p:cNvPr id="3" name="Text 1"/>
          <p:cNvSpPr/>
          <p:nvPr/>
        </p:nvSpPr>
        <p:spPr>
          <a:xfrm>
            <a:off x="502920" y="585216"/>
            <a:ext cx="10972800" cy="502920"/>
          </a:xfrm>
          <a:prstGeom prst="rect">
            <a:avLst/>
          </a:prstGeom>
          <a:noFill/>
          <a:ln/>
        </p:spPr>
        <p:txBody>
          <a:bodyPr wrap="square" lIns="0" tIns="0" rIns="0" bIns="0" rtlCol="0" anchor="ctr"/>
          <a:lstStyle/>
          <a:p>
            <a:pPr indent="0" marL="0">
              <a:buNone/>
            </a:pPr>
            <a:r>
              <a:rPr lang="en-US" sz="3200" dirty="0">
                <a:solidFill>
                  <a:srgbClr val="17242C"/>
                </a:solidFill>
                <a:latin typeface="Georgia" pitchFamily="34" charset="0"/>
                <a:ea typeface="Georgia" pitchFamily="34" charset="-122"/>
                <a:cs typeface="Georgia" pitchFamily="34" charset="-120"/>
              </a:rPr>
              <a:t>A lockfile is what actually shipped.</a:t>
            </a:r>
            <a:endParaRPr lang="en-US" sz="3200" dirty="0"/>
          </a:p>
        </p:txBody>
      </p:sp>
      <p:sp>
        <p:nvSpPr>
          <p:cNvPr id="4" name="Text 2"/>
          <p:cNvSpPr/>
          <p:nvPr/>
        </p:nvSpPr>
        <p:spPr>
          <a:xfrm>
            <a:off x="502920" y="1170432"/>
            <a:ext cx="10972800" cy="347472"/>
          </a:xfrm>
          <a:prstGeom prst="rect">
            <a:avLst/>
          </a:prstGeom>
          <a:noFill/>
          <a:ln/>
        </p:spPr>
        <p:txBody>
          <a:bodyPr wrap="square" lIns="0" tIns="0" rIns="0" bIns="0" rtlCol="0" anchor="ctr"/>
          <a:lstStyle/>
          <a:p>
            <a:pPr indent="0" marL="0">
              <a:buNone/>
            </a:pPr>
            <a:r>
              <a:rPr lang="en-US" sz="1600" dirty="0">
                <a:solidFill>
                  <a:srgbClr val="5A6C76"/>
                </a:solidFill>
                <a:latin typeface="Calibri" pitchFamily="34" charset="0"/>
                <a:ea typeface="Calibri" pitchFamily="34" charset="-122"/>
                <a:cs typeface="Calibri" pitchFamily="34" charset="-120"/>
              </a:rPr>
              <a:t>Hand review does not survive a repository that mixes languages, tools, and libraries.</a:t>
            </a:r>
            <a:endParaRPr lang="en-US" sz="1600" dirty="0"/>
          </a:p>
        </p:txBody>
      </p:sp>
      <p:sp>
        <p:nvSpPr>
          <p:cNvPr id="5" name="Shape 3"/>
          <p:cNvSpPr/>
          <p:nvPr/>
        </p:nvSpPr>
        <p:spPr>
          <a:xfrm>
            <a:off x="502920" y="1737360"/>
            <a:ext cx="3611880" cy="3246120"/>
          </a:xfrm>
          <a:prstGeom prst="roundRect">
            <a:avLst>
              <a:gd name="adj" fmla="val 2254"/>
            </a:avLst>
          </a:prstGeom>
          <a:solidFill>
            <a:srgbClr val="FFFFFF"/>
          </a:solidFill>
          <a:ln/>
          <a:effectLst>
            <a:outerShdw sx="100000" sy="100000" kx="0" ky="0" algn="bl" rotWithShape="0" blurRad="127000" dist="25400" dir="8100000">
              <a:srgbClr val="17242C">
                <a:alpha val="8000"/>
              </a:srgbClr>
            </a:outerShdw>
          </a:effectLst>
        </p:spPr>
      </p:sp>
      <p:sp>
        <p:nvSpPr>
          <p:cNvPr id="6" name="Text 4"/>
          <p:cNvSpPr/>
          <p:nvPr/>
        </p:nvSpPr>
        <p:spPr>
          <a:xfrm>
            <a:off x="758952" y="1920240"/>
            <a:ext cx="3017520" cy="411480"/>
          </a:xfrm>
          <a:prstGeom prst="rect">
            <a:avLst/>
          </a:prstGeom>
          <a:noFill/>
          <a:ln/>
        </p:spPr>
        <p:txBody>
          <a:bodyPr wrap="square" lIns="0" tIns="0" rIns="0" bIns="0" rtlCol="0" anchor="ctr"/>
          <a:lstStyle/>
          <a:p>
            <a:pPr indent="0" marL="0">
              <a:buNone/>
            </a:pPr>
            <a:r>
              <a:rPr lang="en-US" sz="2200" dirty="0">
                <a:solidFill>
                  <a:srgbClr val="0C6B62"/>
                </a:solidFill>
                <a:latin typeface="Georgia" pitchFamily="34" charset="0"/>
                <a:ea typeface="Georgia" pitchFamily="34" charset="-122"/>
                <a:cs typeface="Georgia" pitchFamily="34" charset="-120"/>
              </a:rPr>
              <a:t>01</a:t>
            </a:r>
            <a:endParaRPr lang="en-US" sz="2200" dirty="0"/>
          </a:p>
        </p:txBody>
      </p:sp>
      <p:sp>
        <p:nvSpPr>
          <p:cNvPr id="7" name="Text 5"/>
          <p:cNvSpPr/>
          <p:nvPr/>
        </p:nvSpPr>
        <p:spPr>
          <a:xfrm>
            <a:off x="758952" y="2423160"/>
            <a:ext cx="3108960" cy="640080"/>
          </a:xfrm>
          <a:prstGeom prst="rect">
            <a:avLst/>
          </a:prstGeom>
          <a:noFill/>
          <a:ln/>
        </p:spPr>
        <p:txBody>
          <a:bodyPr wrap="square" lIns="0" tIns="0" rIns="0" bIns="0" rtlCol="0" anchor="ctr"/>
          <a:lstStyle/>
          <a:p>
            <a:pPr indent="0" marL="0">
              <a:buNone/>
            </a:pPr>
            <a:r>
              <a:rPr lang="en-US" sz="2000" dirty="0">
                <a:solidFill>
                  <a:srgbClr val="17242C"/>
                </a:solidFill>
                <a:latin typeface="Georgia" pitchFamily="34" charset="0"/>
                <a:ea typeface="Georgia" pitchFamily="34" charset="-122"/>
                <a:cs typeface="Georgia" pitchFamily="34" charset="-120"/>
              </a:rPr>
              <a:t>Mixed on purpose</a:t>
            </a:r>
            <a:endParaRPr lang="en-US" sz="2000" dirty="0"/>
          </a:p>
        </p:txBody>
      </p:sp>
      <p:sp>
        <p:nvSpPr>
          <p:cNvPr id="8" name="Text 6"/>
          <p:cNvSpPr/>
          <p:nvPr/>
        </p:nvSpPr>
        <p:spPr>
          <a:xfrm>
            <a:off x="758952" y="3154680"/>
            <a:ext cx="3108960" cy="1554480"/>
          </a:xfrm>
          <a:prstGeom prst="rect">
            <a:avLst/>
          </a:prstGeom>
          <a:noFill/>
          <a:ln/>
        </p:spPr>
        <p:txBody>
          <a:bodyPr wrap="square" lIns="0" tIns="0" rIns="0" bIns="0" rtlCol="0" anchor="ctr"/>
          <a:lstStyle/>
          <a:p>
            <a:pPr indent="0" marL="0">
              <a:buNone/>
            </a:pPr>
            <a:r>
              <a:rPr lang="en-US" sz="1500" dirty="0">
                <a:solidFill>
                  <a:srgbClr val="2C3E46"/>
                </a:solidFill>
                <a:latin typeface="Calibri" pitchFamily="34" charset="0"/>
                <a:ea typeface="Calibri" pitchFamily="34" charset="-122"/>
                <a:cs typeface="Calibri" pitchFamily="34" charset="-120"/>
              </a:rPr>
              <a:t>Production libraries and development tools sit in the same tree. A high finding in a test runner is not the same decision as one in a library you ship.</a:t>
            </a:r>
            <a:endParaRPr lang="en-US" sz="1500" dirty="0"/>
          </a:p>
        </p:txBody>
      </p:sp>
      <p:sp>
        <p:nvSpPr>
          <p:cNvPr id="9" name="Shape 7"/>
          <p:cNvSpPr/>
          <p:nvPr/>
        </p:nvSpPr>
        <p:spPr>
          <a:xfrm>
            <a:off x="4343400" y="1737360"/>
            <a:ext cx="3611880" cy="3246120"/>
          </a:xfrm>
          <a:prstGeom prst="roundRect">
            <a:avLst>
              <a:gd name="adj" fmla="val 2254"/>
            </a:avLst>
          </a:prstGeom>
          <a:solidFill>
            <a:srgbClr val="FFFFFF"/>
          </a:solidFill>
          <a:ln/>
          <a:effectLst>
            <a:outerShdw sx="100000" sy="100000" kx="0" ky="0" algn="bl" rotWithShape="0" blurRad="127000" dist="25400" dir="8100000">
              <a:srgbClr val="17242C">
                <a:alpha val="8000"/>
              </a:srgbClr>
            </a:outerShdw>
          </a:effectLst>
        </p:spPr>
      </p:sp>
      <p:sp>
        <p:nvSpPr>
          <p:cNvPr id="10" name="Text 8"/>
          <p:cNvSpPr/>
          <p:nvPr/>
        </p:nvSpPr>
        <p:spPr>
          <a:xfrm>
            <a:off x="4599432" y="1920240"/>
            <a:ext cx="3017520" cy="411480"/>
          </a:xfrm>
          <a:prstGeom prst="rect">
            <a:avLst/>
          </a:prstGeom>
          <a:noFill/>
          <a:ln/>
        </p:spPr>
        <p:txBody>
          <a:bodyPr wrap="square" lIns="0" tIns="0" rIns="0" bIns="0" rtlCol="0" anchor="ctr"/>
          <a:lstStyle/>
          <a:p>
            <a:pPr indent="0" marL="0">
              <a:buNone/>
            </a:pPr>
            <a:r>
              <a:rPr lang="en-US" sz="2200" dirty="0">
                <a:solidFill>
                  <a:srgbClr val="0C6B62"/>
                </a:solidFill>
                <a:latin typeface="Georgia" pitchFamily="34" charset="0"/>
                <a:ea typeface="Georgia" pitchFamily="34" charset="-122"/>
                <a:cs typeface="Georgia" pitchFamily="34" charset="-120"/>
              </a:rPr>
              <a:t>02</a:t>
            </a:r>
            <a:endParaRPr lang="en-US" sz="2200" dirty="0"/>
          </a:p>
        </p:txBody>
      </p:sp>
      <p:sp>
        <p:nvSpPr>
          <p:cNvPr id="11" name="Text 9"/>
          <p:cNvSpPr/>
          <p:nvPr/>
        </p:nvSpPr>
        <p:spPr>
          <a:xfrm>
            <a:off x="4599432" y="2423160"/>
            <a:ext cx="3108960" cy="640080"/>
          </a:xfrm>
          <a:prstGeom prst="rect">
            <a:avLst/>
          </a:prstGeom>
          <a:noFill/>
          <a:ln/>
        </p:spPr>
        <p:txBody>
          <a:bodyPr wrap="square" lIns="0" tIns="0" rIns="0" bIns="0" rtlCol="0" anchor="ctr"/>
          <a:lstStyle/>
          <a:p>
            <a:pPr indent="0" marL="0">
              <a:buNone/>
            </a:pPr>
            <a:r>
              <a:rPr lang="en-US" sz="2000" dirty="0">
                <a:solidFill>
                  <a:srgbClr val="17242C"/>
                </a:solidFill>
                <a:latin typeface="Georgia" pitchFamily="34" charset="0"/>
                <a:ea typeface="Georgia" pitchFamily="34" charset="-122"/>
                <a:cs typeface="Georgia" pitchFamily="34" charset="-120"/>
              </a:rPr>
              <a:t>Transitive still ships</a:t>
            </a:r>
            <a:endParaRPr lang="en-US" sz="2000" dirty="0"/>
          </a:p>
        </p:txBody>
      </p:sp>
      <p:sp>
        <p:nvSpPr>
          <p:cNvPr id="12" name="Text 10"/>
          <p:cNvSpPr/>
          <p:nvPr/>
        </p:nvSpPr>
        <p:spPr>
          <a:xfrm>
            <a:off x="4599432" y="3154680"/>
            <a:ext cx="3108960" cy="1554480"/>
          </a:xfrm>
          <a:prstGeom prst="rect">
            <a:avLst/>
          </a:prstGeom>
          <a:noFill/>
          <a:ln/>
        </p:spPr>
        <p:txBody>
          <a:bodyPr wrap="square" lIns="0" tIns="0" rIns="0" bIns="0" rtlCol="0" anchor="ctr"/>
          <a:lstStyle/>
          <a:p>
            <a:pPr indent="0" marL="0">
              <a:buNone/>
            </a:pPr>
            <a:r>
              <a:rPr lang="en-US" sz="1500" dirty="0">
                <a:solidFill>
                  <a:srgbClr val="2C3E46"/>
                </a:solidFill>
                <a:latin typeface="Calibri" pitchFamily="34" charset="0"/>
                <a:ea typeface="Calibri" pitchFamily="34" charset="-122"/>
                <a:cs typeface="Calibri" pitchFamily="34" charset="-120"/>
              </a:rPr>
              <a:t>A bug in a package you did not name is still in the build. Hiding those rows would make a narrower report, not a truer one.</a:t>
            </a:r>
            <a:endParaRPr lang="en-US" sz="1500" dirty="0"/>
          </a:p>
        </p:txBody>
      </p:sp>
      <p:sp>
        <p:nvSpPr>
          <p:cNvPr id="13" name="Shape 11"/>
          <p:cNvSpPr/>
          <p:nvPr/>
        </p:nvSpPr>
        <p:spPr>
          <a:xfrm>
            <a:off x="8183880" y="1737360"/>
            <a:ext cx="3611880" cy="3246120"/>
          </a:xfrm>
          <a:prstGeom prst="roundRect">
            <a:avLst>
              <a:gd name="adj" fmla="val 2254"/>
            </a:avLst>
          </a:prstGeom>
          <a:solidFill>
            <a:srgbClr val="FFFFFF"/>
          </a:solidFill>
          <a:ln/>
          <a:effectLst>
            <a:outerShdw sx="100000" sy="100000" kx="0" ky="0" algn="bl" rotWithShape="0" blurRad="127000" dist="25400" dir="8100000">
              <a:srgbClr val="17242C">
                <a:alpha val="8000"/>
              </a:srgbClr>
            </a:outerShdw>
          </a:effectLst>
        </p:spPr>
      </p:sp>
      <p:sp>
        <p:nvSpPr>
          <p:cNvPr id="14" name="Text 12"/>
          <p:cNvSpPr/>
          <p:nvPr/>
        </p:nvSpPr>
        <p:spPr>
          <a:xfrm>
            <a:off x="8439912" y="1920240"/>
            <a:ext cx="3017520" cy="411480"/>
          </a:xfrm>
          <a:prstGeom prst="rect">
            <a:avLst/>
          </a:prstGeom>
          <a:noFill/>
          <a:ln/>
        </p:spPr>
        <p:txBody>
          <a:bodyPr wrap="square" lIns="0" tIns="0" rIns="0" bIns="0" rtlCol="0" anchor="ctr"/>
          <a:lstStyle/>
          <a:p>
            <a:pPr indent="0" marL="0">
              <a:buNone/>
            </a:pPr>
            <a:r>
              <a:rPr lang="en-US" sz="2200" dirty="0">
                <a:solidFill>
                  <a:srgbClr val="0C6B62"/>
                </a:solidFill>
                <a:latin typeface="Georgia" pitchFamily="34" charset="0"/>
                <a:ea typeface="Georgia" pitchFamily="34" charset="-122"/>
                <a:cs typeface="Georgia" pitchFamily="34" charset="-120"/>
              </a:rPr>
              <a:t>03</a:t>
            </a:r>
            <a:endParaRPr lang="en-US" sz="2200" dirty="0"/>
          </a:p>
        </p:txBody>
      </p:sp>
      <p:sp>
        <p:nvSpPr>
          <p:cNvPr id="15" name="Text 13"/>
          <p:cNvSpPr/>
          <p:nvPr/>
        </p:nvSpPr>
        <p:spPr>
          <a:xfrm>
            <a:off x="8439912" y="2423160"/>
            <a:ext cx="3108960" cy="640080"/>
          </a:xfrm>
          <a:prstGeom prst="rect">
            <a:avLst/>
          </a:prstGeom>
          <a:noFill/>
          <a:ln/>
        </p:spPr>
        <p:txBody>
          <a:bodyPr wrap="square" lIns="0" tIns="0" rIns="0" bIns="0" rtlCol="0" anchor="ctr"/>
          <a:lstStyle/>
          <a:p>
            <a:pPr indent="0" marL="0">
              <a:buNone/>
            </a:pPr>
            <a:r>
              <a:rPr lang="en-US" sz="2000" dirty="0">
                <a:solidFill>
                  <a:srgbClr val="17242C"/>
                </a:solidFill>
                <a:latin typeface="Georgia" pitchFamily="34" charset="0"/>
                <a:ea typeface="Georgia" pitchFamily="34" charset="-122"/>
                <a:cs typeface="Georgia" pitchFamily="34" charset="-120"/>
              </a:rPr>
              <a:t>A range is not a version</a:t>
            </a:r>
            <a:endParaRPr lang="en-US" sz="2000" dirty="0"/>
          </a:p>
        </p:txBody>
      </p:sp>
      <p:sp>
        <p:nvSpPr>
          <p:cNvPr id="16" name="Text 14"/>
          <p:cNvSpPr/>
          <p:nvPr/>
        </p:nvSpPr>
        <p:spPr>
          <a:xfrm>
            <a:off x="8439912" y="3154680"/>
            <a:ext cx="3108960" cy="1554480"/>
          </a:xfrm>
          <a:prstGeom prst="rect">
            <a:avLst/>
          </a:prstGeom>
          <a:noFill/>
          <a:ln/>
        </p:spPr>
        <p:txBody>
          <a:bodyPr wrap="square" lIns="0" tIns="0" rIns="0" bIns="0" rtlCol="0" anchor="ctr"/>
          <a:lstStyle/>
          <a:p>
            <a:pPr indent="0" marL="0">
              <a:buNone/>
            </a:pPr>
            <a:r>
              <a:rPr lang="en-US" sz="1500" dirty="0">
                <a:solidFill>
                  <a:srgbClr val="2C3E46"/>
                </a:solidFill>
                <a:latin typeface="Calibri" pitchFamily="34" charset="0"/>
                <a:ea typeface="Calibri" pitchFamily="34" charset="-122"/>
                <a:cs typeface="Calibri" pitchFamily="34" charset="-120"/>
              </a:rPr>
              <a:t>package.json can say ^4.17.20. Until a lock names 4.17.20, there is nothing honest to ask OSV about.</a:t>
            </a:r>
            <a:endParaRPr lang="en-US" sz="1500" dirty="0"/>
          </a:p>
        </p:txBody>
      </p:sp>
      <p:sp>
        <p:nvSpPr>
          <p:cNvPr id="17" name="Shape 15"/>
          <p:cNvSpPr/>
          <p:nvPr/>
        </p:nvSpPr>
        <p:spPr>
          <a:xfrm>
            <a:off x="502920" y="5166360"/>
            <a:ext cx="11155680" cy="1051560"/>
          </a:xfrm>
          <a:prstGeom prst="roundRect">
            <a:avLst>
              <a:gd name="adj" fmla="val 6957"/>
            </a:avLst>
          </a:prstGeom>
          <a:solidFill>
            <a:srgbClr val="E5F4F2"/>
          </a:solidFill>
          <a:ln/>
        </p:spPr>
      </p:sp>
      <p:sp>
        <p:nvSpPr>
          <p:cNvPr id="18" name="Text 16"/>
          <p:cNvSpPr/>
          <p:nvPr/>
        </p:nvSpPr>
        <p:spPr>
          <a:xfrm>
            <a:off x="731520" y="5303520"/>
            <a:ext cx="10698480" cy="777240"/>
          </a:xfrm>
          <a:prstGeom prst="rect">
            <a:avLst/>
          </a:prstGeom>
          <a:noFill/>
          <a:ln/>
        </p:spPr>
        <p:txBody>
          <a:bodyPr wrap="square" lIns="0" tIns="0" rIns="0" bIns="0" rtlCol="0" anchor="ctr"/>
          <a:lstStyle/>
          <a:p>
            <a:pPr indent="0" marL="0">
              <a:buNone/>
            </a:pPr>
            <a:r>
              <a:rPr lang="en-US" sz="1600" dirty="0">
                <a:solidFill>
                  <a:srgbClr val="17242C"/>
                </a:solidFill>
                <a:latin typeface="Calibri" pitchFamily="34" charset="0"/>
                <a:ea typeface="Calibri" pitchFamily="34" charset="-122"/>
                <a:cs typeface="Calibri" pitchFamily="34" charset="-120"/>
              </a:rPr>
              <a:t>The check has to name the package, the advisory, and a fixed release, then fail the build only for the risk you agreed to block.</a:t>
            </a:r>
            <a:endParaRPr lang="en-US" sz="1600" dirty="0"/>
          </a:p>
        </p:txBody>
      </p:sp>
      <p:sp>
        <p:nvSpPr>
          <p:cNvPr id="19" name="Text 17"/>
          <p:cNvSpPr/>
          <p:nvPr/>
        </p:nvSpPr>
        <p:spPr>
          <a:xfrm>
            <a:off x="502920" y="6473952"/>
            <a:ext cx="2743200" cy="256032"/>
          </a:xfrm>
          <a:prstGeom prst="rect">
            <a:avLst/>
          </a:prstGeom>
          <a:noFill/>
          <a:ln/>
        </p:spPr>
        <p:txBody>
          <a:bodyPr wrap="square" lIns="0" tIns="0" rIns="0" bIns="0" rtlCol="0" anchor="ctr"/>
          <a:lstStyle/>
          <a:p>
            <a:pPr indent="0" marL="0">
              <a:buNone/>
            </a:pPr>
            <a:r>
              <a:rPr lang="en-US" sz="1100" dirty="0">
                <a:solidFill>
                  <a:srgbClr val="5A6C76"/>
                </a:solidFill>
                <a:latin typeface="Consolas" pitchFamily="34" charset="0"/>
                <a:ea typeface="Consolas" pitchFamily="34" charset="-122"/>
                <a:cs typeface="Consolas" pitchFamily="34" charset="-120"/>
              </a:rPr>
              <a:t>supply-scan</a:t>
            </a:r>
            <a:endParaRPr lang="en-US" sz="1100" dirty="0"/>
          </a:p>
        </p:txBody>
      </p:sp>
      <p:sp>
        <p:nvSpPr>
          <p:cNvPr id="20" name="Text 18"/>
          <p:cNvSpPr/>
          <p:nvPr/>
        </p:nvSpPr>
        <p:spPr>
          <a:xfrm>
            <a:off x="10789920" y="6473952"/>
            <a:ext cx="822960" cy="256032"/>
          </a:xfrm>
          <a:prstGeom prst="rect">
            <a:avLst/>
          </a:prstGeom>
          <a:noFill/>
          <a:ln/>
        </p:spPr>
        <p:txBody>
          <a:bodyPr wrap="square" lIns="0" tIns="0" rIns="0" bIns="0" rtlCol="0" anchor="ctr"/>
          <a:lstStyle/>
          <a:p>
            <a:pPr algn="r" indent="0" marL="0">
              <a:buNone/>
            </a:pPr>
            <a:r>
              <a:rPr lang="en-US" sz="1200" dirty="0">
                <a:solidFill>
                  <a:srgbClr val="5A6C76"/>
                </a:solidFill>
                <a:latin typeface="Calibri" pitchFamily="34" charset="0"/>
                <a:ea typeface="Calibri" pitchFamily="34" charset="-122"/>
                <a:cs typeface="Calibri"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AFB"/>
        </a:solidFill>
      </p:bgPr>
    </p:bg>
    <p:spTree>
      <p:nvGrpSpPr>
        <p:cNvPr id="1" name=""/>
        <p:cNvGrpSpPr/>
        <p:nvPr/>
      </p:nvGrpSpPr>
      <p:grpSpPr>
        <a:xfrm>
          <a:off x="0" y="0"/>
          <a:ext cx="0" cy="0"/>
          <a:chOff x="0" y="0"/>
          <a:chExt cx="0" cy="0"/>
        </a:xfrm>
      </p:grpSpPr>
      <p:sp>
        <p:nvSpPr>
          <p:cNvPr id="2" name="Text 0"/>
          <p:cNvSpPr/>
          <p:nvPr/>
        </p:nvSpPr>
        <p:spPr>
          <a:xfrm>
            <a:off x="502920" y="292608"/>
            <a:ext cx="7315200" cy="256032"/>
          </a:xfrm>
          <a:prstGeom prst="rect">
            <a:avLst/>
          </a:prstGeom>
          <a:noFill/>
          <a:ln/>
        </p:spPr>
        <p:txBody>
          <a:bodyPr wrap="square" lIns="0" tIns="0" rIns="0" bIns="0" rtlCol="0" anchor="ctr"/>
          <a:lstStyle/>
          <a:p>
            <a:pPr indent="0" marL="0">
              <a:buNone/>
            </a:pPr>
            <a:r>
              <a:rPr lang="en-US" sz="1200" spc="120" kern="0" dirty="0">
                <a:solidFill>
                  <a:srgbClr val="0C6B62"/>
                </a:solidFill>
                <a:latin typeface="Consolas" pitchFamily="34" charset="0"/>
                <a:ea typeface="Consolas" pitchFamily="34" charset="-122"/>
                <a:cs typeface="Consolas" pitchFamily="34" charset="-120"/>
              </a:rPr>
              <a:t>DESIGN</a:t>
            </a:r>
            <a:endParaRPr lang="en-US" sz="1200" dirty="0"/>
          </a:p>
        </p:txBody>
      </p:sp>
      <p:sp>
        <p:nvSpPr>
          <p:cNvPr id="3" name="Text 1"/>
          <p:cNvSpPr/>
          <p:nvPr/>
        </p:nvSpPr>
        <p:spPr>
          <a:xfrm>
            <a:off x="502920" y="585216"/>
            <a:ext cx="10972800" cy="457200"/>
          </a:xfrm>
          <a:prstGeom prst="rect">
            <a:avLst/>
          </a:prstGeom>
          <a:noFill/>
          <a:ln/>
        </p:spPr>
        <p:txBody>
          <a:bodyPr wrap="square" lIns="0" tIns="0" rIns="0" bIns="0" rtlCol="0" anchor="ctr"/>
          <a:lstStyle/>
          <a:p>
            <a:pPr indent="0" marL="0">
              <a:buNone/>
            </a:pPr>
            <a:r>
              <a:rPr lang="en-US" sz="3200" dirty="0">
                <a:solidFill>
                  <a:srgbClr val="17242C"/>
                </a:solidFill>
                <a:latin typeface="Georgia" pitchFamily="34" charset="0"/>
                <a:ea typeface="Georgia" pitchFamily="34" charset="-122"/>
                <a:cs typeface="Georgia" pitchFamily="34" charset="-120"/>
              </a:rPr>
              <a:t>Four steps. One snapshot.</a:t>
            </a:r>
            <a:endParaRPr lang="en-US" sz="3200" dirty="0"/>
          </a:p>
        </p:txBody>
      </p:sp>
      <p:sp>
        <p:nvSpPr>
          <p:cNvPr id="4" name="Shape 2"/>
          <p:cNvSpPr/>
          <p:nvPr/>
        </p:nvSpPr>
        <p:spPr>
          <a:xfrm>
            <a:off x="502920" y="1280160"/>
            <a:ext cx="11155680" cy="1005840"/>
          </a:xfrm>
          <a:prstGeom prst="roundRect">
            <a:avLst>
              <a:gd name="adj" fmla="val 7273"/>
            </a:avLst>
          </a:prstGeom>
          <a:solidFill>
            <a:srgbClr val="FFFFFF"/>
          </a:solidFill>
          <a:ln/>
          <a:effectLst>
            <a:outerShdw sx="100000" sy="100000" kx="0" ky="0" algn="bl" rotWithShape="0" blurRad="127000" dist="25400" dir="8100000">
              <a:srgbClr val="17242C">
                <a:alpha val="8000"/>
              </a:srgbClr>
            </a:outerShdw>
          </a:effectLst>
        </p:spPr>
      </p:sp>
      <p:sp>
        <p:nvSpPr>
          <p:cNvPr id="5" name="Shape 3"/>
          <p:cNvSpPr/>
          <p:nvPr/>
        </p:nvSpPr>
        <p:spPr>
          <a:xfrm>
            <a:off x="685800" y="1508760"/>
            <a:ext cx="548640" cy="548640"/>
          </a:xfrm>
          <a:prstGeom prst="roundRect">
            <a:avLst>
              <a:gd name="adj" fmla="val 13333"/>
            </a:avLst>
          </a:prstGeom>
          <a:solidFill>
            <a:srgbClr val="0C6B62"/>
          </a:solidFill>
          <a:ln/>
        </p:spPr>
      </p:sp>
      <p:sp>
        <p:nvSpPr>
          <p:cNvPr id="6" name="Text 4"/>
          <p:cNvSpPr/>
          <p:nvPr/>
        </p:nvSpPr>
        <p:spPr>
          <a:xfrm>
            <a:off x="685800" y="1508760"/>
            <a:ext cx="548640" cy="548640"/>
          </a:xfrm>
          <a:prstGeom prst="rect">
            <a:avLst/>
          </a:prstGeom>
          <a:noFill/>
          <a:ln/>
        </p:spPr>
        <p:txBody>
          <a:bodyPr wrap="square" lIns="0" tIns="0" rIns="0" bIns="0" rtlCol="0" anchor="ctr"/>
          <a:lstStyle/>
          <a:p>
            <a:pPr algn="ctr" indent="0" marL="0">
              <a:buNone/>
            </a:pPr>
            <a:r>
              <a:rPr lang="en-US" sz="2000" dirty="0">
                <a:solidFill>
                  <a:srgbClr val="FFFFFF"/>
                </a:solidFill>
                <a:latin typeface="Georgia" pitchFamily="34" charset="0"/>
                <a:ea typeface="Georgia" pitchFamily="34" charset="-122"/>
                <a:cs typeface="Georgia" pitchFamily="34" charset="-120"/>
              </a:rPr>
              <a:t>1</a:t>
            </a:r>
            <a:endParaRPr lang="en-US" sz="2000" dirty="0"/>
          </a:p>
        </p:txBody>
      </p:sp>
      <p:sp>
        <p:nvSpPr>
          <p:cNvPr id="7" name="Text 5"/>
          <p:cNvSpPr/>
          <p:nvPr/>
        </p:nvSpPr>
        <p:spPr>
          <a:xfrm>
            <a:off x="1463040" y="1426464"/>
            <a:ext cx="2926080" cy="713232"/>
          </a:xfrm>
          <a:prstGeom prst="rect">
            <a:avLst/>
          </a:prstGeom>
          <a:noFill/>
          <a:ln/>
        </p:spPr>
        <p:txBody>
          <a:bodyPr wrap="square" lIns="0" tIns="0" rIns="0" bIns="0" rtlCol="0" anchor="ctr"/>
          <a:lstStyle/>
          <a:p>
            <a:pPr indent="0" marL="0">
              <a:buNone/>
            </a:pPr>
            <a:r>
              <a:rPr lang="en-US" sz="2000" dirty="0">
                <a:solidFill>
                  <a:srgbClr val="17242C"/>
                </a:solidFill>
                <a:latin typeface="Georgia" pitchFamily="34" charset="0"/>
                <a:ea typeface="Georgia" pitchFamily="34" charset="-122"/>
                <a:cs typeface="Georgia" pitchFamily="34" charset="-120"/>
              </a:rPr>
              <a:t>Acquire</a:t>
            </a:r>
            <a:endParaRPr lang="en-US" sz="2000" dirty="0"/>
          </a:p>
        </p:txBody>
      </p:sp>
      <p:sp>
        <p:nvSpPr>
          <p:cNvPr id="8" name="Text 6"/>
          <p:cNvSpPr/>
          <p:nvPr/>
        </p:nvSpPr>
        <p:spPr>
          <a:xfrm>
            <a:off x="4297680" y="1444752"/>
            <a:ext cx="7040880" cy="676656"/>
          </a:xfrm>
          <a:prstGeom prst="rect">
            <a:avLst/>
          </a:prstGeom>
          <a:noFill/>
          <a:ln/>
        </p:spPr>
        <p:txBody>
          <a:bodyPr wrap="square" lIns="0" tIns="0" rIns="0" bIns="0" rtlCol="0" anchor="ctr"/>
          <a:lstStyle/>
          <a:p>
            <a:pPr indent="0" marL="0">
              <a:buNone/>
            </a:pPr>
            <a:r>
              <a:rPr lang="en-US" sz="1600" dirty="0">
                <a:solidFill>
                  <a:srgbClr val="2C3E46"/>
                </a:solidFill>
                <a:latin typeface="Calibri" pitchFamily="34" charset="0"/>
                <a:ea typeface="Calibri" pitchFamily="34" charset="-122"/>
                <a:cs typeface="Calibri" pitchFamily="34" charset="-120"/>
              </a:rPr>
              <a:t>A local directory, or an allowed git URL cloned into a temp folder and deleted afterwards.</a:t>
            </a:r>
            <a:endParaRPr lang="en-US" sz="1600" dirty="0"/>
          </a:p>
        </p:txBody>
      </p:sp>
      <p:sp>
        <p:nvSpPr>
          <p:cNvPr id="9" name="Shape 7"/>
          <p:cNvSpPr/>
          <p:nvPr/>
        </p:nvSpPr>
        <p:spPr>
          <a:xfrm>
            <a:off x="502920" y="2423160"/>
            <a:ext cx="11155680" cy="1005840"/>
          </a:xfrm>
          <a:prstGeom prst="roundRect">
            <a:avLst>
              <a:gd name="adj" fmla="val 7273"/>
            </a:avLst>
          </a:prstGeom>
          <a:solidFill>
            <a:srgbClr val="FFFFFF"/>
          </a:solidFill>
          <a:ln/>
          <a:effectLst>
            <a:outerShdw sx="100000" sy="100000" kx="0" ky="0" algn="bl" rotWithShape="0" blurRad="127000" dist="25400" dir="8100000">
              <a:srgbClr val="17242C">
                <a:alpha val="8000"/>
              </a:srgbClr>
            </a:outerShdw>
          </a:effectLst>
        </p:spPr>
      </p:sp>
      <p:sp>
        <p:nvSpPr>
          <p:cNvPr id="10" name="Shape 8"/>
          <p:cNvSpPr/>
          <p:nvPr/>
        </p:nvSpPr>
        <p:spPr>
          <a:xfrm>
            <a:off x="685800" y="2651760"/>
            <a:ext cx="548640" cy="548640"/>
          </a:xfrm>
          <a:prstGeom prst="roundRect">
            <a:avLst>
              <a:gd name="adj" fmla="val 13333"/>
            </a:avLst>
          </a:prstGeom>
          <a:solidFill>
            <a:srgbClr val="0C6B62"/>
          </a:solidFill>
          <a:ln/>
        </p:spPr>
      </p:sp>
      <p:sp>
        <p:nvSpPr>
          <p:cNvPr id="11" name="Text 9"/>
          <p:cNvSpPr/>
          <p:nvPr/>
        </p:nvSpPr>
        <p:spPr>
          <a:xfrm>
            <a:off x="685800" y="2651760"/>
            <a:ext cx="548640" cy="548640"/>
          </a:xfrm>
          <a:prstGeom prst="rect">
            <a:avLst/>
          </a:prstGeom>
          <a:noFill/>
          <a:ln/>
        </p:spPr>
        <p:txBody>
          <a:bodyPr wrap="square" lIns="0" tIns="0" rIns="0" bIns="0" rtlCol="0" anchor="ctr"/>
          <a:lstStyle/>
          <a:p>
            <a:pPr algn="ctr" indent="0" marL="0">
              <a:buNone/>
            </a:pPr>
            <a:r>
              <a:rPr lang="en-US" sz="2000" dirty="0">
                <a:solidFill>
                  <a:srgbClr val="FFFFFF"/>
                </a:solidFill>
                <a:latin typeface="Georgia" pitchFamily="34" charset="0"/>
                <a:ea typeface="Georgia" pitchFamily="34" charset="-122"/>
                <a:cs typeface="Georgia" pitchFamily="34" charset="-120"/>
              </a:rPr>
              <a:t>2</a:t>
            </a:r>
            <a:endParaRPr lang="en-US" sz="2000" dirty="0"/>
          </a:p>
        </p:txBody>
      </p:sp>
      <p:sp>
        <p:nvSpPr>
          <p:cNvPr id="12" name="Text 10"/>
          <p:cNvSpPr/>
          <p:nvPr/>
        </p:nvSpPr>
        <p:spPr>
          <a:xfrm>
            <a:off x="1463040" y="2569464"/>
            <a:ext cx="2926080" cy="713232"/>
          </a:xfrm>
          <a:prstGeom prst="rect">
            <a:avLst/>
          </a:prstGeom>
          <a:noFill/>
          <a:ln/>
        </p:spPr>
        <p:txBody>
          <a:bodyPr wrap="square" lIns="0" tIns="0" rIns="0" bIns="0" rtlCol="0" anchor="ctr"/>
          <a:lstStyle/>
          <a:p>
            <a:pPr indent="0" marL="0">
              <a:buNone/>
            </a:pPr>
            <a:r>
              <a:rPr lang="en-US" sz="2000" dirty="0">
                <a:solidFill>
                  <a:srgbClr val="17242C"/>
                </a:solidFill>
                <a:latin typeface="Georgia" pitchFamily="34" charset="0"/>
                <a:ea typeface="Georgia" pitchFamily="34" charset="-122"/>
                <a:cs typeface="Georgia" pitchFamily="34" charset="-120"/>
              </a:rPr>
              <a:t>Inventory</a:t>
            </a:r>
            <a:endParaRPr lang="en-US" sz="2000" dirty="0"/>
          </a:p>
        </p:txBody>
      </p:sp>
      <p:sp>
        <p:nvSpPr>
          <p:cNvPr id="13" name="Text 11"/>
          <p:cNvSpPr/>
          <p:nvPr/>
        </p:nvSpPr>
        <p:spPr>
          <a:xfrm>
            <a:off x="4297680" y="2587752"/>
            <a:ext cx="7040880" cy="676656"/>
          </a:xfrm>
          <a:prstGeom prst="rect">
            <a:avLst/>
          </a:prstGeom>
          <a:noFill/>
          <a:ln/>
        </p:spPr>
        <p:txBody>
          <a:bodyPr wrap="square" lIns="0" tIns="0" rIns="0" bIns="0" rtlCol="0" anchor="ctr"/>
          <a:lstStyle/>
          <a:p>
            <a:pPr indent="0" marL="0">
              <a:buNone/>
            </a:pPr>
            <a:r>
              <a:rPr lang="en-US" sz="1600" dirty="0">
                <a:solidFill>
                  <a:srgbClr val="2C3E46"/>
                </a:solidFill>
                <a:latin typeface="Calibri" pitchFamily="34" charset="0"/>
                <a:ea typeface="Calibri" pitchFamily="34" charset="-122"/>
                <a:cs typeface="Calibri" pitchFamily="34" charset="-120"/>
              </a:rPr>
              <a:t>Lockfiles and manifests become package rows. A lock wins over a looser file beside it.</a:t>
            </a:r>
            <a:endParaRPr lang="en-US" sz="1600" dirty="0"/>
          </a:p>
        </p:txBody>
      </p:sp>
      <p:sp>
        <p:nvSpPr>
          <p:cNvPr id="14" name="Shape 12"/>
          <p:cNvSpPr/>
          <p:nvPr/>
        </p:nvSpPr>
        <p:spPr>
          <a:xfrm>
            <a:off x="502920" y="3566160"/>
            <a:ext cx="11155680" cy="1005840"/>
          </a:xfrm>
          <a:prstGeom prst="roundRect">
            <a:avLst>
              <a:gd name="adj" fmla="val 7273"/>
            </a:avLst>
          </a:prstGeom>
          <a:solidFill>
            <a:srgbClr val="FFFFFF"/>
          </a:solidFill>
          <a:ln/>
          <a:effectLst>
            <a:outerShdw sx="100000" sy="100000" kx="0" ky="0" algn="bl" rotWithShape="0" blurRad="127000" dist="25400" dir="8100000">
              <a:srgbClr val="17242C">
                <a:alpha val="8000"/>
              </a:srgbClr>
            </a:outerShdw>
          </a:effectLst>
        </p:spPr>
      </p:sp>
      <p:sp>
        <p:nvSpPr>
          <p:cNvPr id="15" name="Shape 13"/>
          <p:cNvSpPr/>
          <p:nvPr/>
        </p:nvSpPr>
        <p:spPr>
          <a:xfrm>
            <a:off x="685800" y="3794760"/>
            <a:ext cx="548640" cy="548640"/>
          </a:xfrm>
          <a:prstGeom prst="roundRect">
            <a:avLst>
              <a:gd name="adj" fmla="val 13333"/>
            </a:avLst>
          </a:prstGeom>
          <a:solidFill>
            <a:srgbClr val="0C6B62"/>
          </a:solidFill>
          <a:ln/>
        </p:spPr>
      </p:sp>
      <p:sp>
        <p:nvSpPr>
          <p:cNvPr id="16" name="Text 14"/>
          <p:cNvSpPr/>
          <p:nvPr/>
        </p:nvSpPr>
        <p:spPr>
          <a:xfrm>
            <a:off x="685800" y="3794760"/>
            <a:ext cx="548640" cy="548640"/>
          </a:xfrm>
          <a:prstGeom prst="rect">
            <a:avLst/>
          </a:prstGeom>
          <a:noFill/>
          <a:ln/>
        </p:spPr>
        <p:txBody>
          <a:bodyPr wrap="square" lIns="0" tIns="0" rIns="0" bIns="0" rtlCol="0" anchor="ctr"/>
          <a:lstStyle/>
          <a:p>
            <a:pPr algn="ctr" indent="0" marL="0">
              <a:buNone/>
            </a:pPr>
            <a:r>
              <a:rPr lang="en-US" sz="2000" dirty="0">
                <a:solidFill>
                  <a:srgbClr val="FFFFFF"/>
                </a:solidFill>
                <a:latin typeface="Georgia" pitchFamily="34" charset="0"/>
                <a:ea typeface="Georgia" pitchFamily="34" charset="-122"/>
                <a:cs typeface="Georgia" pitchFamily="34" charset="-120"/>
              </a:rPr>
              <a:t>3</a:t>
            </a:r>
            <a:endParaRPr lang="en-US" sz="2000" dirty="0"/>
          </a:p>
        </p:txBody>
      </p:sp>
      <p:sp>
        <p:nvSpPr>
          <p:cNvPr id="17" name="Text 15"/>
          <p:cNvSpPr/>
          <p:nvPr/>
        </p:nvSpPr>
        <p:spPr>
          <a:xfrm>
            <a:off x="1463040" y="3712464"/>
            <a:ext cx="2926080" cy="713232"/>
          </a:xfrm>
          <a:prstGeom prst="rect">
            <a:avLst/>
          </a:prstGeom>
          <a:noFill/>
          <a:ln/>
        </p:spPr>
        <p:txBody>
          <a:bodyPr wrap="square" lIns="0" tIns="0" rIns="0" bIns="0" rtlCol="0" anchor="ctr"/>
          <a:lstStyle/>
          <a:p>
            <a:pPr indent="0" marL="0">
              <a:buNone/>
            </a:pPr>
            <a:r>
              <a:rPr lang="en-US" sz="2000" dirty="0">
                <a:solidFill>
                  <a:srgbClr val="17242C"/>
                </a:solidFill>
                <a:latin typeface="Georgia" pitchFamily="34" charset="0"/>
                <a:ea typeface="Georgia" pitchFamily="34" charset="-122"/>
                <a:cs typeface="Georgia" pitchFamily="34" charset="-120"/>
              </a:rPr>
              <a:t>Match</a:t>
            </a:r>
            <a:endParaRPr lang="en-US" sz="2000" dirty="0"/>
          </a:p>
        </p:txBody>
      </p:sp>
      <p:sp>
        <p:nvSpPr>
          <p:cNvPr id="18" name="Text 16"/>
          <p:cNvSpPr/>
          <p:nvPr/>
        </p:nvSpPr>
        <p:spPr>
          <a:xfrm>
            <a:off x="4297680" y="3730752"/>
            <a:ext cx="7040880" cy="676656"/>
          </a:xfrm>
          <a:prstGeom prst="rect">
            <a:avLst/>
          </a:prstGeom>
          <a:noFill/>
          <a:ln/>
        </p:spPr>
        <p:txBody>
          <a:bodyPr wrap="square" lIns="0" tIns="0" rIns="0" bIns="0" rtlCol="0" anchor="ctr"/>
          <a:lstStyle/>
          <a:p>
            <a:pPr indent="0" marL="0">
              <a:buNone/>
            </a:pPr>
            <a:r>
              <a:rPr lang="en-US" sz="1600" dirty="0">
                <a:solidFill>
                  <a:srgbClr val="2C3E46"/>
                </a:solidFill>
                <a:latin typeface="Calibri" pitchFamily="34" charset="0"/>
                <a:ea typeface="Calibri" pitchFamily="34" charset="-122"/>
                <a:cs typeface="Calibri" pitchFamily="34" charset="-120"/>
              </a:rPr>
              <a:t>OSV, cached for 24 hours. The highest fix that can be ordered becomes the one upgrade.</a:t>
            </a:r>
            <a:endParaRPr lang="en-US" sz="1600" dirty="0"/>
          </a:p>
        </p:txBody>
      </p:sp>
      <p:sp>
        <p:nvSpPr>
          <p:cNvPr id="19" name="Shape 17"/>
          <p:cNvSpPr/>
          <p:nvPr/>
        </p:nvSpPr>
        <p:spPr>
          <a:xfrm>
            <a:off x="502920" y="4709160"/>
            <a:ext cx="11155680" cy="1005840"/>
          </a:xfrm>
          <a:prstGeom prst="roundRect">
            <a:avLst>
              <a:gd name="adj" fmla="val 7273"/>
            </a:avLst>
          </a:prstGeom>
          <a:solidFill>
            <a:srgbClr val="FFFFFF"/>
          </a:solidFill>
          <a:ln/>
          <a:effectLst>
            <a:outerShdw sx="100000" sy="100000" kx="0" ky="0" algn="bl" rotWithShape="0" blurRad="127000" dist="25400" dir="8100000">
              <a:srgbClr val="17242C">
                <a:alpha val="8000"/>
              </a:srgbClr>
            </a:outerShdw>
          </a:effectLst>
        </p:spPr>
      </p:sp>
      <p:sp>
        <p:nvSpPr>
          <p:cNvPr id="20" name="Shape 18"/>
          <p:cNvSpPr/>
          <p:nvPr/>
        </p:nvSpPr>
        <p:spPr>
          <a:xfrm>
            <a:off x="685800" y="4937760"/>
            <a:ext cx="548640" cy="548640"/>
          </a:xfrm>
          <a:prstGeom prst="roundRect">
            <a:avLst>
              <a:gd name="adj" fmla="val 13333"/>
            </a:avLst>
          </a:prstGeom>
          <a:solidFill>
            <a:srgbClr val="0C6B62"/>
          </a:solidFill>
          <a:ln/>
        </p:spPr>
      </p:sp>
      <p:sp>
        <p:nvSpPr>
          <p:cNvPr id="21" name="Text 19"/>
          <p:cNvSpPr/>
          <p:nvPr/>
        </p:nvSpPr>
        <p:spPr>
          <a:xfrm>
            <a:off x="685800" y="4937760"/>
            <a:ext cx="548640" cy="548640"/>
          </a:xfrm>
          <a:prstGeom prst="rect">
            <a:avLst/>
          </a:prstGeom>
          <a:noFill/>
          <a:ln/>
        </p:spPr>
        <p:txBody>
          <a:bodyPr wrap="square" lIns="0" tIns="0" rIns="0" bIns="0" rtlCol="0" anchor="ctr"/>
          <a:lstStyle/>
          <a:p>
            <a:pPr algn="ctr" indent="0" marL="0">
              <a:buNone/>
            </a:pPr>
            <a:r>
              <a:rPr lang="en-US" sz="2000" dirty="0">
                <a:solidFill>
                  <a:srgbClr val="FFFFFF"/>
                </a:solidFill>
                <a:latin typeface="Georgia" pitchFamily="34" charset="0"/>
                <a:ea typeface="Georgia" pitchFamily="34" charset="-122"/>
                <a:cs typeface="Georgia" pitchFamily="34" charset="-120"/>
              </a:rPr>
              <a:t>4</a:t>
            </a:r>
            <a:endParaRPr lang="en-US" sz="2000" dirty="0"/>
          </a:p>
        </p:txBody>
      </p:sp>
      <p:sp>
        <p:nvSpPr>
          <p:cNvPr id="22" name="Text 20"/>
          <p:cNvSpPr/>
          <p:nvPr/>
        </p:nvSpPr>
        <p:spPr>
          <a:xfrm>
            <a:off x="1463040" y="4855464"/>
            <a:ext cx="2926080" cy="713232"/>
          </a:xfrm>
          <a:prstGeom prst="rect">
            <a:avLst/>
          </a:prstGeom>
          <a:noFill/>
          <a:ln/>
        </p:spPr>
        <p:txBody>
          <a:bodyPr wrap="square" lIns="0" tIns="0" rIns="0" bIns="0" rtlCol="0" anchor="ctr"/>
          <a:lstStyle/>
          <a:p>
            <a:pPr indent="0" marL="0">
              <a:buNone/>
            </a:pPr>
            <a:r>
              <a:rPr lang="en-US" sz="2000" dirty="0">
                <a:solidFill>
                  <a:srgbClr val="17242C"/>
                </a:solidFill>
                <a:latin typeface="Georgia" pitchFamily="34" charset="0"/>
                <a:ea typeface="Georgia" pitchFamily="34" charset="-122"/>
                <a:cs typeface="Georgia" pitchFamily="34" charset="-120"/>
              </a:rPr>
              <a:t>Report</a:t>
            </a:r>
            <a:endParaRPr lang="en-US" sz="2000" dirty="0"/>
          </a:p>
        </p:txBody>
      </p:sp>
      <p:sp>
        <p:nvSpPr>
          <p:cNvPr id="23" name="Text 21"/>
          <p:cNvSpPr/>
          <p:nvPr/>
        </p:nvSpPr>
        <p:spPr>
          <a:xfrm>
            <a:off x="4297680" y="4873752"/>
            <a:ext cx="7040880" cy="676656"/>
          </a:xfrm>
          <a:prstGeom prst="rect">
            <a:avLst/>
          </a:prstGeom>
          <a:noFill/>
          <a:ln/>
        </p:spPr>
        <p:txBody>
          <a:bodyPr wrap="square" lIns="0" tIns="0" rIns="0" bIns="0" rtlCol="0" anchor="ctr"/>
          <a:lstStyle/>
          <a:p>
            <a:pPr indent="0" marL="0">
              <a:buNone/>
            </a:pPr>
            <a:r>
              <a:rPr lang="en-US" sz="1600" dirty="0">
                <a:solidFill>
                  <a:srgbClr val="2C3E46"/>
                </a:solidFill>
                <a:latin typeface="Calibri" pitchFamily="34" charset="0"/>
                <a:ea typeface="Calibri" pitchFamily="34" charset="-122"/>
                <a:cs typeface="Calibri" pitchFamily="34" charset="-120"/>
              </a:rPr>
              <a:t>Text, JSON, HTML, and one exit code. The page calls this same scan.</a:t>
            </a:r>
            <a:endParaRPr lang="en-US" sz="1600" dirty="0"/>
          </a:p>
        </p:txBody>
      </p:sp>
      <p:sp>
        <p:nvSpPr>
          <p:cNvPr id="24" name="Text 22"/>
          <p:cNvSpPr/>
          <p:nvPr/>
        </p:nvSpPr>
        <p:spPr>
          <a:xfrm>
            <a:off x="502920" y="6473952"/>
            <a:ext cx="2743200" cy="256032"/>
          </a:xfrm>
          <a:prstGeom prst="rect">
            <a:avLst/>
          </a:prstGeom>
          <a:noFill/>
          <a:ln/>
        </p:spPr>
        <p:txBody>
          <a:bodyPr wrap="square" lIns="0" tIns="0" rIns="0" bIns="0" rtlCol="0" anchor="ctr"/>
          <a:lstStyle/>
          <a:p>
            <a:pPr indent="0" marL="0">
              <a:buNone/>
            </a:pPr>
            <a:r>
              <a:rPr lang="en-US" sz="1100" dirty="0">
                <a:solidFill>
                  <a:srgbClr val="5A6C76"/>
                </a:solidFill>
                <a:latin typeface="Consolas" pitchFamily="34" charset="0"/>
                <a:ea typeface="Consolas" pitchFamily="34" charset="-122"/>
                <a:cs typeface="Consolas" pitchFamily="34" charset="-120"/>
              </a:rPr>
              <a:t>supply-scan</a:t>
            </a:r>
            <a:endParaRPr lang="en-US" sz="1100" dirty="0"/>
          </a:p>
        </p:txBody>
      </p:sp>
      <p:sp>
        <p:nvSpPr>
          <p:cNvPr id="25" name="Text 23"/>
          <p:cNvSpPr/>
          <p:nvPr/>
        </p:nvSpPr>
        <p:spPr>
          <a:xfrm>
            <a:off x="10789920" y="6473952"/>
            <a:ext cx="822960" cy="256032"/>
          </a:xfrm>
          <a:prstGeom prst="rect">
            <a:avLst/>
          </a:prstGeom>
          <a:noFill/>
          <a:ln/>
        </p:spPr>
        <p:txBody>
          <a:bodyPr wrap="square" lIns="0" tIns="0" rIns="0" bIns="0" rtlCol="0" anchor="ctr"/>
          <a:lstStyle/>
          <a:p>
            <a:pPr algn="r" indent="0" marL="0">
              <a:buNone/>
            </a:pPr>
            <a:r>
              <a:rPr lang="en-US" sz="1200" dirty="0">
                <a:solidFill>
                  <a:srgbClr val="5A6C76"/>
                </a:solidFill>
                <a:latin typeface="Calibri" pitchFamily="34" charset="0"/>
                <a:ea typeface="Calibri" pitchFamily="34" charset="-122"/>
                <a:cs typeface="Calibri"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AFB"/>
        </a:solidFill>
      </p:bgPr>
    </p:bg>
    <p:spTree>
      <p:nvGrpSpPr>
        <p:cNvPr id="1" name=""/>
        <p:cNvGrpSpPr/>
        <p:nvPr/>
      </p:nvGrpSpPr>
      <p:grpSpPr>
        <a:xfrm>
          <a:off x="0" y="0"/>
          <a:ext cx="0" cy="0"/>
          <a:chOff x="0" y="0"/>
          <a:chExt cx="0" cy="0"/>
        </a:xfrm>
      </p:grpSpPr>
      <p:sp>
        <p:nvSpPr>
          <p:cNvPr id="2" name="Text 0"/>
          <p:cNvSpPr/>
          <p:nvPr/>
        </p:nvSpPr>
        <p:spPr>
          <a:xfrm>
            <a:off x="502920" y="292608"/>
            <a:ext cx="7315200" cy="256032"/>
          </a:xfrm>
          <a:prstGeom prst="rect">
            <a:avLst/>
          </a:prstGeom>
          <a:noFill/>
          <a:ln/>
        </p:spPr>
        <p:txBody>
          <a:bodyPr wrap="square" lIns="0" tIns="0" rIns="0" bIns="0" rtlCol="0" anchor="ctr"/>
          <a:lstStyle/>
          <a:p>
            <a:pPr indent="0" marL="0">
              <a:buNone/>
            </a:pPr>
            <a:r>
              <a:rPr lang="en-US" sz="1200" spc="120" kern="0" dirty="0">
                <a:solidFill>
                  <a:srgbClr val="0C6B62"/>
                </a:solidFill>
                <a:latin typeface="Consolas" pitchFamily="34" charset="0"/>
                <a:ea typeface="Consolas" pitchFamily="34" charset="-122"/>
                <a:cs typeface="Consolas" pitchFamily="34" charset="-120"/>
              </a:rPr>
              <a:t>IMPLEMENTATION</a:t>
            </a:r>
            <a:endParaRPr lang="en-US" sz="1200" dirty="0"/>
          </a:p>
        </p:txBody>
      </p:sp>
      <p:sp>
        <p:nvSpPr>
          <p:cNvPr id="3" name="Text 1"/>
          <p:cNvSpPr/>
          <p:nvPr/>
        </p:nvSpPr>
        <p:spPr>
          <a:xfrm>
            <a:off x="502920" y="585216"/>
            <a:ext cx="10972800" cy="457200"/>
          </a:xfrm>
          <a:prstGeom prst="rect">
            <a:avLst/>
          </a:prstGeom>
          <a:noFill/>
          <a:ln/>
        </p:spPr>
        <p:txBody>
          <a:bodyPr wrap="square" lIns="0" tIns="0" rIns="0" bIns="0" rtlCol="0" anchor="ctr"/>
          <a:lstStyle/>
          <a:p>
            <a:pPr indent="0" marL="0">
              <a:buNone/>
            </a:pPr>
            <a:r>
              <a:rPr lang="en-US" sz="3200" dirty="0">
                <a:solidFill>
                  <a:srgbClr val="17242C"/>
                </a:solidFill>
                <a:latin typeface="Georgia" pitchFamily="34" charset="0"/>
                <a:ea typeface="Georgia" pitchFamily="34" charset="-122"/>
                <a:cs typeface="Georgia" pitchFamily="34" charset="-120"/>
              </a:rPr>
              <a:t>Python 3.11. No third-party packages.</a:t>
            </a:r>
            <a:endParaRPr lang="en-US" sz="3200" dirty="0"/>
          </a:p>
        </p:txBody>
      </p:sp>
      <p:sp>
        <p:nvSpPr>
          <p:cNvPr id="4" name="Shape 2"/>
          <p:cNvSpPr/>
          <p:nvPr/>
        </p:nvSpPr>
        <p:spPr>
          <a:xfrm>
            <a:off x="502920" y="1280160"/>
            <a:ext cx="6720840" cy="4892040"/>
          </a:xfrm>
          <a:prstGeom prst="roundRect">
            <a:avLst>
              <a:gd name="adj" fmla="val 1495"/>
            </a:avLst>
          </a:prstGeom>
          <a:solidFill>
            <a:srgbClr val="FFFFFF"/>
          </a:solidFill>
          <a:ln/>
          <a:effectLst>
            <a:outerShdw sx="100000" sy="100000" kx="0" ky="0" algn="bl" rotWithShape="0" blurRad="127000" dist="25400" dir="8100000">
              <a:srgbClr val="17242C">
                <a:alpha val="8000"/>
              </a:srgbClr>
            </a:outerShdw>
          </a:effectLst>
        </p:spPr>
      </p:sp>
      <p:sp>
        <p:nvSpPr>
          <p:cNvPr id="5" name="Text 3"/>
          <p:cNvSpPr/>
          <p:nvPr/>
        </p:nvSpPr>
        <p:spPr>
          <a:xfrm>
            <a:off x="731520" y="1444752"/>
            <a:ext cx="6217920" cy="365760"/>
          </a:xfrm>
          <a:prstGeom prst="rect">
            <a:avLst/>
          </a:prstGeom>
          <a:noFill/>
          <a:ln/>
        </p:spPr>
        <p:txBody>
          <a:bodyPr wrap="square" lIns="0" tIns="0" rIns="0" bIns="0" rtlCol="0" anchor="ctr"/>
          <a:lstStyle/>
          <a:p>
            <a:pPr indent="0" marL="0">
              <a:buNone/>
            </a:pPr>
            <a:r>
              <a:rPr lang="en-US" sz="1800" dirty="0">
                <a:solidFill>
                  <a:srgbClr val="17242C"/>
                </a:solidFill>
                <a:latin typeface="Georgia" pitchFamily="34" charset="0"/>
                <a:ea typeface="Georgia" pitchFamily="34" charset="-122"/>
                <a:cs typeface="Georgia" pitchFamily="34" charset="-120"/>
              </a:rPr>
              <a:t>Ecosystems read from the tree</a:t>
            </a:r>
            <a:endParaRPr lang="en-US" sz="1800" dirty="0"/>
          </a:p>
        </p:txBody>
      </p:sp>
      <p:sp>
        <p:nvSpPr>
          <p:cNvPr id="6" name="Text 4"/>
          <p:cNvSpPr/>
          <p:nvPr/>
        </p:nvSpPr>
        <p:spPr>
          <a:xfrm>
            <a:off x="777240" y="2011680"/>
            <a:ext cx="6126480" cy="329184"/>
          </a:xfrm>
          <a:prstGeom prst="rect">
            <a:avLst/>
          </a:prstGeom>
          <a:noFill/>
          <a:ln/>
        </p:spPr>
        <p:txBody>
          <a:bodyPr wrap="square" lIns="0" tIns="0" rIns="0" bIns="0" rtlCol="0" anchor="ctr"/>
          <a:lstStyle/>
          <a:p>
            <a:pPr indent="0" marL="0">
              <a:buNone/>
            </a:pPr>
            <a:r>
              <a:rPr lang="en-US" sz="1600" b="1" dirty="0">
                <a:solidFill>
                  <a:srgbClr val="17242C"/>
                </a:solidFill>
                <a:latin typeface="Calibri" pitchFamily="34" charset="0"/>
                <a:ea typeface="Calibri" pitchFamily="34" charset="-122"/>
                <a:cs typeface="Calibri" pitchFamily="34" charset="-120"/>
              </a:rPr>
              <a:t>npm, pnpm, yarn</a:t>
            </a:r>
            <a:endParaRPr lang="en-US" sz="1600" dirty="0"/>
          </a:p>
        </p:txBody>
      </p:sp>
      <p:sp>
        <p:nvSpPr>
          <p:cNvPr id="7" name="Text 5"/>
          <p:cNvSpPr/>
          <p:nvPr/>
        </p:nvSpPr>
        <p:spPr>
          <a:xfrm>
            <a:off x="777240" y="2322576"/>
            <a:ext cx="6126480" cy="292608"/>
          </a:xfrm>
          <a:prstGeom prst="rect">
            <a:avLst/>
          </a:prstGeom>
          <a:noFill/>
          <a:ln/>
        </p:spPr>
        <p:txBody>
          <a:bodyPr wrap="square" lIns="0" tIns="0" rIns="0" bIns="0" rtlCol="0" anchor="ctr"/>
          <a:lstStyle/>
          <a:p>
            <a:pPr indent="0" marL="0">
              <a:buNone/>
            </a:pPr>
            <a:r>
              <a:rPr lang="en-US" sz="1400" dirty="0">
                <a:solidFill>
                  <a:srgbClr val="5A6C76"/>
                </a:solidFill>
                <a:latin typeface="Calibri" pitchFamily="34" charset="0"/>
                <a:ea typeface="Calibri" pitchFamily="34" charset="-122"/>
                <a:cs typeface="Calibri" pitchFamily="34" charset="-120"/>
              </a:rPr>
              <a:t>package-lock, pnpm-lock, yarn.lock</a:t>
            </a:r>
            <a:endParaRPr lang="en-US" sz="1400" dirty="0"/>
          </a:p>
        </p:txBody>
      </p:sp>
      <p:sp>
        <p:nvSpPr>
          <p:cNvPr id="8" name="Text 6"/>
          <p:cNvSpPr/>
          <p:nvPr/>
        </p:nvSpPr>
        <p:spPr>
          <a:xfrm>
            <a:off x="777240" y="2971800"/>
            <a:ext cx="6126480" cy="329184"/>
          </a:xfrm>
          <a:prstGeom prst="rect">
            <a:avLst/>
          </a:prstGeom>
          <a:noFill/>
          <a:ln/>
        </p:spPr>
        <p:txBody>
          <a:bodyPr wrap="square" lIns="0" tIns="0" rIns="0" bIns="0" rtlCol="0" anchor="ctr"/>
          <a:lstStyle/>
          <a:p>
            <a:pPr indent="0" marL="0">
              <a:buNone/>
            </a:pPr>
            <a:r>
              <a:rPr lang="en-US" sz="1600" b="1" dirty="0">
                <a:solidFill>
                  <a:srgbClr val="17242C"/>
                </a:solidFill>
                <a:latin typeface="Calibri" pitchFamily="34" charset="0"/>
                <a:ea typeface="Calibri" pitchFamily="34" charset="-122"/>
                <a:cs typeface="Calibri" pitchFamily="34" charset="-120"/>
              </a:rPr>
              <a:t>Maven and Gradle</a:t>
            </a:r>
            <a:endParaRPr lang="en-US" sz="1600" dirty="0"/>
          </a:p>
        </p:txBody>
      </p:sp>
      <p:sp>
        <p:nvSpPr>
          <p:cNvPr id="9" name="Text 7"/>
          <p:cNvSpPr/>
          <p:nvPr/>
        </p:nvSpPr>
        <p:spPr>
          <a:xfrm>
            <a:off x="777240" y="3282696"/>
            <a:ext cx="6126480" cy="292608"/>
          </a:xfrm>
          <a:prstGeom prst="rect">
            <a:avLst/>
          </a:prstGeom>
          <a:noFill/>
          <a:ln/>
        </p:spPr>
        <p:txBody>
          <a:bodyPr wrap="square" lIns="0" tIns="0" rIns="0" bIns="0" rtlCol="0" anchor="ctr"/>
          <a:lstStyle/>
          <a:p>
            <a:pPr indent="0" marL="0">
              <a:buNone/>
            </a:pPr>
            <a:r>
              <a:rPr lang="en-US" sz="1400" dirty="0">
                <a:solidFill>
                  <a:srgbClr val="5A6C76"/>
                </a:solidFill>
                <a:latin typeface="Calibri" pitchFamily="34" charset="0"/>
                <a:ea typeface="Calibri" pitchFamily="34" charset="-122"/>
                <a:cs typeface="Calibri" pitchFamily="34" charset="-120"/>
              </a:rPr>
              <a:t>pom.xml, lock, version catalog</a:t>
            </a:r>
            <a:endParaRPr lang="en-US" sz="1400" dirty="0"/>
          </a:p>
        </p:txBody>
      </p:sp>
      <p:sp>
        <p:nvSpPr>
          <p:cNvPr id="10" name="Text 8"/>
          <p:cNvSpPr/>
          <p:nvPr/>
        </p:nvSpPr>
        <p:spPr>
          <a:xfrm>
            <a:off x="777240" y="3931920"/>
            <a:ext cx="6126480" cy="329184"/>
          </a:xfrm>
          <a:prstGeom prst="rect">
            <a:avLst/>
          </a:prstGeom>
          <a:noFill/>
          <a:ln/>
        </p:spPr>
        <p:txBody>
          <a:bodyPr wrap="square" lIns="0" tIns="0" rIns="0" bIns="0" rtlCol="0" anchor="ctr"/>
          <a:lstStyle/>
          <a:p>
            <a:pPr indent="0" marL="0">
              <a:buNone/>
            </a:pPr>
            <a:r>
              <a:rPr lang="en-US" sz="1600" b="1" dirty="0">
                <a:solidFill>
                  <a:srgbClr val="17242C"/>
                </a:solidFill>
                <a:latin typeface="Calibri" pitchFamily="34" charset="0"/>
                <a:ea typeface="Calibri" pitchFamily="34" charset="-122"/>
                <a:cs typeface="Calibri" pitchFamily="34" charset="-120"/>
              </a:rPr>
              <a:t>Composer, Pub, Ruby</a:t>
            </a:r>
            <a:endParaRPr lang="en-US" sz="1600" dirty="0"/>
          </a:p>
        </p:txBody>
      </p:sp>
      <p:sp>
        <p:nvSpPr>
          <p:cNvPr id="11" name="Text 9"/>
          <p:cNvSpPr/>
          <p:nvPr/>
        </p:nvSpPr>
        <p:spPr>
          <a:xfrm>
            <a:off x="777240" y="4242816"/>
            <a:ext cx="6126480" cy="292608"/>
          </a:xfrm>
          <a:prstGeom prst="rect">
            <a:avLst/>
          </a:prstGeom>
          <a:noFill/>
          <a:ln/>
        </p:spPr>
        <p:txBody>
          <a:bodyPr wrap="square" lIns="0" tIns="0" rIns="0" bIns="0" rtlCol="0" anchor="ctr"/>
          <a:lstStyle/>
          <a:p>
            <a:pPr indent="0" marL="0">
              <a:buNone/>
            </a:pPr>
            <a:r>
              <a:rPr lang="en-US" sz="1400" dirty="0">
                <a:solidFill>
                  <a:srgbClr val="5A6C76"/>
                </a:solidFill>
                <a:latin typeface="Calibri" pitchFamily="34" charset="0"/>
                <a:ea typeface="Calibri" pitchFamily="34" charset="-122"/>
                <a:cs typeface="Calibri" pitchFamily="34" charset="-120"/>
              </a:rPr>
              <a:t>composer.lock, pubspec, Gemfile.lock</a:t>
            </a:r>
            <a:endParaRPr lang="en-US" sz="1400" dirty="0"/>
          </a:p>
        </p:txBody>
      </p:sp>
      <p:sp>
        <p:nvSpPr>
          <p:cNvPr id="12" name="Text 10"/>
          <p:cNvSpPr/>
          <p:nvPr/>
        </p:nvSpPr>
        <p:spPr>
          <a:xfrm>
            <a:off x="777240" y="4892040"/>
            <a:ext cx="6126480" cy="329184"/>
          </a:xfrm>
          <a:prstGeom prst="rect">
            <a:avLst/>
          </a:prstGeom>
          <a:noFill/>
          <a:ln/>
        </p:spPr>
        <p:txBody>
          <a:bodyPr wrap="square" lIns="0" tIns="0" rIns="0" bIns="0" rtlCol="0" anchor="ctr"/>
          <a:lstStyle/>
          <a:p>
            <a:pPr indent="0" marL="0">
              <a:buNone/>
            </a:pPr>
            <a:r>
              <a:rPr lang="en-US" sz="1600" b="1" dirty="0">
                <a:solidFill>
                  <a:srgbClr val="17242C"/>
                </a:solidFill>
                <a:latin typeface="Calibri" pitchFamily="34" charset="0"/>
                <a:ea typeface="Calibri" pitchFamily="34" charset="-122"/>
                <a:cs typeface="Calibri" pitchFamily="34" charset="-120"/>
              </a:rPr>
              <a:t>Go, Python, Cargo</a:t>
            </a:r>
            <a:endParaRPr lang="en-US" sz="1600" dirty="0"/>
          </a:p>
        </p:txBody>
      </p:sp>
      <p:sp>
        <p:nvSpPr>
          <p:cNvPr id="13" name="Text 11"/>
          <p:cNvSpPr/>
          <p:nvPr/>
        </p:nvSpPr>
        <p:spPr>
          <a:xfrm>
            <a:off x="777240" y="5202936"/>
            <a:ext cx="6126480" cy="292608"/>
          </a:xfrm>
          <a:prstGeom prst="rect">
            <a:avLst/>
          </a:prstGeom>
          <a:noFill/>
          <a:ln/>
        </p:spPr>
        <p:txBody>
          <a:bodyPr wrap="square" lIns="0" tIns="0" rIns="0" bIns="0" rtlCol="0" anchor="ctr"/>
          <a:lstStyle/>
          <a:p>
            <a:pPr indent="0" marL="0">
              <a:buNone/>
            </a:pPr>
            <a:r>
              <a:rPr lang="en-US" sz="1400" dirty="0">
                <a:solidFill>
                  <a:srgbClr val="5A6C76"/>
                </a:solidFill>
                <a:latin typeface="Calibri" pitchFamily="34" charset="0"/>
                <a:ea typeface="Calibri" pitchFamily="34" charset="-122"/>
                <a:cs typeface="Calibri" pitchFamily="34" charset="-120"/>
              </a:rPr>
              <a:t>go.mod, locks and requirements, Cargo.lock</a:t>
            </a:r>
            <a:endParaRPr lang="en-US" sz="1400" dirty="0"/>
          </a:p>
        </p:txBody>
      </p:sp>
      <p:sp>
        <p:nvSpPr>
          <p:cNvPr id="14" name="Shape 12"/>
          <p:cNvSpPr/>
          <p:nvPr/>
        </p:nvSpPr>
        <p:spPr>
          <a:xfrm>
            <a:off x="7406640" y="1280160"/>
            <a:ext cx="4251960" cy="1097280"/>
          </a:xfrm>
          <a:prstGeom prst="roundRect">
            <a:avLst>
              <a:gd name="adj" fmla="val 6667"/>
            </a:avLst>
          </a:prstGeom>
          <a:solidFill>
            <a:srgbClr val="E5F4F2"/>
          </a:solidFill>
          <a:ln/>
        </p:spPr>
      </p:sp>
      <p:sp>
        <p:nvSpPr>
          <p:cNvPr id="15" name="Text 13"/>
          <p:cNvSpPr/>
          <p:nvPr/>
        </p:nvSpPr>
        <p:spPr>
          <a:xfrm>
            <a:off x="7571232" y="1444752"/>
            <a:ext cx="640080" cy="768096"/>
          </a:xfrm>
          <a:prstGeom prst="rect">
            <a:avLst/>
          </a:prstGeom>
          <a:noFill/>
          <a:ln/>
        </p:spPr>
        <p:txBody>
          <a:bodyPr wrap="square" lIns="0" tIns="0" rIns="0" bIns="0" rtlCol="0" anchor="ctr"/>
          <a:lstStyle/>
          <a:p>
            <a:pPr indent="0" marL="0">
              <a:buNone/>
            </a:pPr>
            <a:r>
              <a:rPr lang="en-US" sz="2800" dirty="0">
                <a:solidFill>
                  <a:srgbClr val="0C6B62"/>
                </a:solidFill>
                <a:latin typeface="Georgia" pitchFamily="34" charset="0"/>
                <a:ea typeface="Georgia" pitchFamily="34" charset="-122"/>
                <a:cs typeface="Georgia" pitchFamily="34" charset="-120"/>
              </a:rPr>
              <a:t>0</a:t>
            </a:r>
            <a:endParaRPr lang="en-US" sz="2800" dirty="0"/>
          </a:p>
        </p:txBody>
      </p:sp>
      <p:sp>
        <p:nvSpPr>
          <p:cNvPr id="16" name="Text 14"/>
          <p:cNvSpPr/>
          <p:nvPr/>
        </p:nvSpPr>
        <p:spPr>
          <a:xfrm>
            <a:off x="8275320" y="1463040"/>
            <a:ext cx="3154680" cy="731520"/>
          </a:xfrm>
          <a:prstGeom prst="rect">
            <a:avLst/>
          </a:prstGeom>
          <a:noFill/>
          <a:ln/>
        </p:spPr>
        <p:txBody>
          <a:bodyPr wrap="square" lIns="0" tIns="0" rIns="0" bIns="0" rtlCol="0" anchor="ctr"/>
          <a:lstStyle/>
          <a:p>
            <a:pPr indent="0" marL="0">
              <a:buNone/>
            </a:pPr>
            <a:r>
              <a:rPr lang="en-US" sz="1500" dirty="0">
                <a:solidFill>
                  <a:srgbClr val="17242C"/>
                </a:solidFill>
                <a:latin typeface="Calibri" pitchFamily="34" charset="0"/>
                <a:ea typeface="Calibri" pitchFamily="34" charset="-122"/>
                <a:cs typeface="Calibri" pitchFamily="34" charset="-120"/>
              </a:rPr>
              <a:t>Nothing failing</a:t>
            </a:r>
            <a:endParaRPr lang="en-US" sz="1500" dirty="0"/>
          </a:p>
        </p:txBody>
      </p:sp>
      <p:sp>
        <p:nvSpPr>
          <p:cNvPr id="17" name="Shape 15"/>
          <p:cNvSpPr/>
          <p:nvPr/>
        </p:nvSpPr>
        <p:spPr>
          <a:xfrm>
            <a:off x="7406640" y="2514600"/>
            <a:ext cx="4251960" cy="1097280"/>
          </a:xfrm>
          <a:prstGeom prst="roundRect">
            <a:avLst>
              <a:gd name="adj" fmla="val 6667"/>
            </a:avLst>
          </a:prstGeom>
          <a:solidFill>
            <a:srgbClr val="F8EBE8"/>
          </a:solidFill>
          <a:ln/>
        </p:spPr>
      </p:sp>
      <p:sp>
        <p:nvSpPr>
          <p:cNvPr id="18" name="Text 16"/>
          <p:cNvSpPr/>
          <p:nvPr/>
        </p:nvSpPr>
        <p:spPr>
          <a:xfrm>
            <a:off x="7571232" y="2679192"/>
            <a:ext cx="640080" cy="768096"/>
          </a:xfrm>
          <a:prstGeom prst="rect">
            <a:avLst/>
          </a:prstGeom>
          <a:noFill/>
          <a:ln/>
        </p:spPr>
        <p:txBody>
          <a:bodyPr wrap="square" lIns="0" tIns="0" rIns="0" bIns="0" rtlCol="0" anchor="ctr"/>
          <a:lstStyle/>
          <a:p>
            <a:pPr indent="0" marL="0">
              <a:buNone/>
            </a:pPr>
            <a:r>
              <a:rPr lang="en-US" sz="2800" dirty="0">
                <a:solidFill>
                  <a:srgbClr val="8C3A32"/>
                </a:solidFill>
                <a:latin typeface="Georgia" pitchFamily="34" charset="0"/>
                <a:ea typeface="Georgia" pitchFamily="34" charset="-122"/>
                <a:cs typeface="Georgia" pitchFamily="34" charset="-120"/>
              </a:rPr>
              <a:t>1</a:t>
            </a:r>
            <a:endParaRPr lang="en-US" sz="2800" dirty="0"/>
          </a:p>
        </p:txBody>
      </p:sp>
      <p:sp>
        <p:nvSpPr>
          <p:cNvPr id="19" name="Text 17"/>
          <p:cNvSpPr/>
          <p:nvPr/>
        </p:nvSpPr>
        <p:spPr>
          <a:xfrm>
            <a:off x="8275320" y="2697480"/>
            <a:ext cx="3154680" cy="731520"/>
          </a:xfrm>
          <a:prstGeom prst="rect">
            <a:avLst/>
          </a:prstGeom>
          <a:noFill/>
          <a:ln/>
        </p:spPr>
        <p:txBody>
          <a:bodyPr wrap="square" lIns="0" tIns="0" rIns="0" bIns="0" rtlCol="0" anchor="ctr"/>
          <a:lstStyle/>
          <a:p>
            <a:pPr indent="0" marL="0">
              <a:buNone/>
            </a:pPr>
            <a:r>
              <a:rPr lang="en-US" sz="1500" dirty="0">
                <a:solidFill>
                  <a:srgbClr val="17242C"/>
                </a:solidFill>
                <a:latin typeface="Calibri" pitchFamily="34" charset="0"/>
                <a:ea typeface="Calibri" pitchFamily="34" charset="-122"/>
                <a:cs typeface="Calibri" pitchFamily="34" charset="-120"/>
              </a:rPr>
              <a:t>Malware, or critical/high in production</a:t>
            </a:r>
            <a:endParaRPr lang="en-US" sz="1500" dirty="0"/>
          </a:p>
        </p:txBody>
      </p:sp>
      <p:sp>
        <p:nvSpPr>
          <p:cNvPr id="20" name="Shape 18"/>
          <p:cNvSpPr/>
          <p:nvPr/>
        </p:nvSpPr>
        <p:spPr>
          <a:xfrm>
            <a:off x="7406640" y="3749040"/>
            <a:ext cx="4251960" cy="1097280"/>
          </a:xfrm>
          <a:prstGeom prst="roundRect">
            <a:avLst>
              <a:gd name="adj" fmla="val 6667"/>
            </a:avLst>
          </a:prstGeom>
          <a:solidFill>
            <a:srgbClr val="F8EBE8"/>
          </a:solidFill>
          <a:ln/>
        </p:spPr>
      </p:sp>
      <p:sp>
        <p:nvSpPr>
          <p:cNvPr id="21" name="Text 19"/>
          <p:cNvSpPr/>
          <p:nvPr/>
        </p:nvSpPr>
        <p:spPr>
          <a:xfrm>
            <a:off x="7571232" y="3913632"/>
            <a:ext cx="640080" cy="768096"/>
          </a:xfrm>
          <a:prstGeom prst="rect">
            <a:avLst/>
          </a:prstGeom>
          <a:noFill/>
          <a:ln/>
        </p:spPr>
        <p:txBody>
          <a:bodyPr wrap="square" lIns="0" tIns="0" rIns="0" bIns="0" rtlCol="0" anchor="ctr"/>
          <a:lstStyle/>
          <a:p>
            <a:pPr indent="0" marL="0">
              <a:buNone/>
            </a:pPr>
            <a:r>
              <a:rPr lang="en-US" sz="2800" dirty="0">
                <a:solidFill>
                  <a:srgbClr val="8C3A32"/>
                </a:solidFill>
                <a:latin typeface="Georgia" pitchFamily="34" charset="0"/>
                <a:ea typeface="Georgia" pitchFamily="34" charset="-122"/>
                <a:cs typeface="Georgia" pitchFamily="34" charset="-120"/>
              </a:rPr>
              <a:t>1</a:t>
            </a:r>
            <a:endParaRPr lang="en-US" sz="2800" dirty="0"/>
          </a:p>
        </p:txBody>
      </p:sp>
      <p:sp>
        <p:nvSpPr>
          <p:cNvPr id="22" name="Text 20"/>
          <p:cNvSpPr/>
          <p:nvPr/>
        </p:nvSpPr>
        <p:spPr>
          <a:xfrm>
            <a:off x="8275320" y="3931920"/>
            <a:ext cx="3154680" cy="731520"/>
          </a:xfrm>
          <a:prstGeom prst="rect">
            <a:avLst/>
          </a:prstGeom>
          <a:noFill/>
          <a:ln/>
        </p:spPr>
        <p:txBody>
          <a:bodyPr wrap="square" lIns="0" tIns="0" rIns="0" bIns="0" rtlCol="0" anchor="ctr"/>
          <a:lstStyle/>
          <a:p>
            <a:pPr indent="0" marL="0">
              <a:buNone/>
            </a:pPr>
            <a:r>
              <a:rPr lang="en-US" sz="1500" dirty="0">
                <a:solidFill>
                  <a:srgbClr val="17242C"/>
                </a:solidFill>
                <a:latin typeface="Calibri" pitchFamily="34" charset="0"/>
                <a:ea typeface="Calibri" pitchFamily="34" charset="-122"/>
                <a:cs typeface="Calibri" pitchFamily="34" charset="-120"/>
              </a:rPr>
              <a:t>--strict also fails dev and medium</a:t>
            </a:r>
            <a:endParaRPr lang="en-US" sz="1500" dirty="0"/>
          </a:p>
        </p:txBody>
      </p:sp>
      <p:sp>
        <p:nvSpPr>
          <p:cNvPr id="23" name="Shape 21"/>
          <p:cNvSpPr/>
          <p:nvPr/>
        </p:nvSpPr>
        <p:spPr>
          <a:xfrm>
            <a:off x="7406640" y="4983480"/>
            <a:ext cx="4251960" cy="1097280"/>
          </a:xfrm>
          <a:prstGeom prst="roundRect">
            <a:avLst>
              <a:gd name="adj" fmla="val 6667"/>
            </a:avLst>
          </a:prstGeom>
          <a:solidFill>
            <a:srgbClr val="EEF2F4"/>
          </a:solidFill>
          <a:ln/>
        </p:spPr>
      </p:sp>
      <p:sp>
        <p:nvSpPr>
          <p:cNvPr id="24" name="Text 22"/>
          <p:cNvSpPr/>
          <p:nvPr/>
        </p:nvSpPr>
        <p:spPr>
          <a:xfrm>
            <a:off x="7571232" y="5148072"/>
            <a:ext cx="640080" cy="768096"/>
          </a:xfrm>
          <a:prstGeom prst="rect">
            <a:avLst/>
          </a:prstGeom>
          <a:noFill/>
          <a:ln/>
        </p:spPr>
        <p:txBody>
          <a:bodyPr wrap="square" lIns="0" tIns="0" rIns="0" bIns="0" rtlCol="0" anchor="ctr"/>
          <a:lstStyle/>
          <a:p>
            <a:pPr indent="0" marL="0">
              <a:buNone/>
            </a:pPr>
            <a:r>
              <a:rPr lang="en-US" sz="2800" dirty="0">
                <a:solidFill>
                  <a:srgbClr val="5A6C76"/>
                </a:solidFill>
                <a:latin typeface="Georgia" pitchFamily="34" charset="0"/>
                <a:ea typeface="Georgia" pitchFamily="34" charset="-122"/>
                <a:cs typeface="Georgia" pitchFamily="34" charset="-120"/>
              </a:rPr>
              <a:t>2</a:t>
            </a:r>
            <a:endParaRPr lang="en-US" sz="2800" dirty="0"/>
          </a:p>
        </p:txBody>
      </p:sp>
      <p:sp>
        <p:nvSpPr>
          <p:cNvPr id="25" name="Text 23"/>
          <p:cNvSpPr/>
          <p:nvPr/>
        </p:nvSpPr>
        <p:spPr>
          <a:xfrm>
            <a:off x="8275320" y="5166360"/>
            <a:ext cx="3154680" cy="731520"/>
          </a:xfrm>
          <a:prstGeom prst="rect">
            <a:avLst/>
          </a:prstGeom>
          <a:noFill/>
          <a:ln/>
        </p:spPr>
        <p:txBody>
          <a:bodyPr wrap="square" lIns="0" tIns="0" rIns="0" bIns="0" rtlCol="0" anchor="ctr"/>
          <a:lstStyle/>
          <a:p>
            <a:pPr indent="0" marL="0">
              <a:buNone/>
            </a:pPr>
            <a:r>
              <a:rPr lang="en-US" sz="1500" dirty="0">
                <a:solidFill>
                  <a:srgbClr val="17242C"/>
                </a:solidFill>
                <a:latin typeface="Calibri" pitchFamily="34" charset="0"/>
                <a:ea typeface="Calibri" pitchFamily="34" charset="-122"/>
                <a:cs typeface="Calibri" pitchFamily="34" charset="-120"/>
              </a:rPr>
              <a:t>Target or lookup could not finish</a:t>
            </a:r>
            <a:endParaRPr lang="en-US" sz="1500" dirty="0"/>
          </a:p>
        </p:txBody>
      </p:sp>
      <p:sp>
        <p:nvSpPr>
          <p:cNvPr id="26" name="Text 24"/>
          <p:cNvSpPr/>
          <p:nvPr/>
        </p:nvSpPr>
        <p:spPr>
          <a:xfrm>
            <a:off x="502920" y="6473952"/>
            <a:ext cx="2743200" cy="256032"/>
          </a:xfrm>
          <a:prstGeom prst="rect">
            <a:avLst/>
          </a:prstGeom>
          <a:noFill/>
          <a:ln/>
        </p:spPr>
        <p:txBody>
          <a:bodyPr wrap="square" lIns="0" tIns="0" rIns="0" bIns="0" rtlCol="0" anchor="ctr"/>
          <a:lstStyle/>
          <a:p>
            <a:pPr indent="0" marL="0">
              <a:buNone/>
            </a:pPr>
            <a:r>
              <a:rPr lang="en-US" sz="1100" dirty="0">
                <a:solidFill>
                  <a:srgbClr val="5A6C76"/>
                </a:solidFill>
                <a:latin typeface="Consolas" pitchFamily="34" charset="0"/>
                <a:ea typeface="Consolas" pitchFamily="34" charset="-122"/>
                <a:cs typeface="Consolas" pitchFamily="34" charset="-120"/>
              </a:rPr>
              <a:t>supply-scan</a:t>
            </a:r>
            <a:endParaRPr lang="en-US" sz="1100" dirty="0"/>
          </a:p>
        </p:txBody>
      </p:sp>
      <p:sp>
        <p:nvSpPr>
          <p:cNvPr id="27" name="Text 25"/>
          <p:cNvSpPr/>
          <p:nvPr/>
        </p:nvSpPr>
        <p:spPr>
          <a:xfrm>
            <a:off x="10789920" y="6473952"/>
            <a:ext cx="822960" cy="256032"/>
          </a:xfrm>
          <a:prstGeom prst="rect">
            <a:avLst/>
          </a:prstGeom>
          <a:noFill/>
          <a:ln/>
        </p:spPr>
        <p:txBody>
          <a:bodyPr wrap="square" lIns="0" tIns="0" rIns="0" bIns="0" rtlCol="0" anchor="ctr"/>
          <a:lstStyle/>
          <a:p>
            <a:pPr algn="r" indent="0" marL="0">
              <a:buNone/>
            </a:pPr>
            <a:r>
              <a:rPr lang="en-US" sz="1200" dirty="0">
                <a:solidFill>
                  <a:srgbClr val="5A6C76"/>
                </a:solidFill>
                <a:latin typeface="Calibri" pitchFamily="34" charset="0"/>
                <a:ea typeface="Calibri" pitchFamily="34" charset="-122"/>
                <a:cs typeface="Calibri"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AFB"/>
        </a:solidFill>
      </p:bgPr>
    </p:bg>
    <p:spTree>
      <p:nvGrpSpPr>
        <p:cNvPr id="1" name=""/>
        <p:cNvGrpSpPr/>
        <p:nvPr/>
      </p:nvGrpSpPr>
      <p:grpSpPr>
        <a:xfrm>
          <a:off x="0" y="0"/>
          <a:ext cx="0" cy="0"/>
          <a:chOff x="0" y="0"/>
          <a:chExt cx="0" cy="0"/>
        </a:xfrm>
      </p:grpSpPr>
      <p:sp>
        <p:nvSpPr>
          <p:cNvPr id="2" name="Text 0"/>
          <p:cNvSpPr/>
          <p:nvPr/>
        </p:nvSpPr>
        <p:spPr>
          <a:xfrm>
            <a:off x="502920" y="292608"/>
            <a:ext cx="7315200" cy="256032"/>
          </a:xfrm>
          <a:prstGeom prst="rect">
            <a:avLst/>
          </a:prstGeom>
          <a:noFill/>
          <a:ln/>
        </p:spPr>
        <p:txBody>
          <a:bodyPr wrap="square" lIns="0" tIns="0" rIns="0" bIns="0" rtlCol="0" anchor="ctr"/>
          <a:lstStyle/>
          <a:p>
            <a:pPr indent="0" marL="0">
              <a:buNone/>
            </a:pPr>
            <a:r>
              <a:rPr lang="en-US" sz="1200" spc="120" kern="0" dirty="0">
                <a:solidFill>
                  <a:srgbClr val="0C6B62"/>
                </a:solidFill>
                <a:latin typeface="Consolas" pitchFamily="34" charset="0"/>
                <a:ea typeface="Consolas" pitchFamily="34" charset="-122"/>
                <a:cs typeface="Consolas" pitchFamily="34" charset="-120"/>
              </a:rPr>
              <a:t>RESULTS</a:t>
            </a:r>
            <a:endParaRPr lang="en-US" sz="1200" dirty="0"/>
          </a:p>
        </p:txBody>
      </p:sp>
      <p:sp>
        <p:nvSpPr>
          <p:cNvPr id="3" name="Text 1"/>
          <p:cNvSpPr/>
          <p:nvPr/>
        </p:nvSpPr>
        <p:spPr>
          <a:xfrm>
            <a:off x="502920" y="585216"/>
            <a:ext cx="10972800" cy="457200"/>
          </a:xfrm>
          <a:prstGeom prst="rect">
            <a:avLst/>
          </a:prstGeom>
          <a:noFill/>
          <a:ln/>
        </p:spPr>
        <p:txBody>
          <a:bodyPr wrap="square" lIns="0" tIns="0" rIns="0" bIns="0" rtlCol="0" anchor="ctr"/>
          <a:lstStyle/>
          <a:p>
            <a:pPr indent="0" marL="0">
              <a:buNone/>
            </a:pPr>
            <a:r>
              <a:rPr lang="en-US" sz="3200" dirty="0">
                <a:solidFill>
                  <a:srgbClr val="17242C"/>
                </a:solidFill>
                <a:latin typeface="Georgia" pitchFamily="34" charset="0"/>
                <a:ea typeface="Georgia" pitchFamily="34" charset="-122"/>
                <a:cs typeface="Georgia" pitchFamily="34" charset="-120"/>
              </a:rPr>
              <a:t>Four checks. 0.093 seconds. All passed.</a:t>
            </a:r>
            <a:endParaRPr lang="en-US" sz="3200" dirty="0"/>
          </a:p>
        </p:txBody>
      </p:sp>
      <p:sp>
        <p:nvSpPr>
          <p:cNvPr id="4" name="Text 2"/>
          <p:cNvSpPr/>
          <p:nvPr/>
        </p:nvSpPr>
        <p:spPr>
          <a:xfrm>
            <a:off x="502920" y="1115568"/>
            <a:ext cx="10972800" cy="320040"/>
          </a:xfrm>
          <a:prstGeom prst="rect">
            <a:avLst/>
          </a:prstGeom>
          <a:noFill/>
          <a:ln/>
        </p:spPr>
        <p:txBody>
          <a:bodyPr wrap="square" lIns="0" tIns="0" rIns="0" bIns="0" rtlCol="0" anchor="ctr"/>
          <a:lstStyle/>
          <a:p>
            <a:pPr indent="0" marL="0">
              <a:buNone/>
            </a:pPr>
            <a:r>
              <a:rPr lang="en-US" sz="1500" dirty="0">
                <a:solidFill>
                  <a:srgbClr val="5A6C76"/>
                </a:solidFill>
                <a:latin typeface="Calibri" pitchFamily="34" charset="0"/>
                <a:ea typeface="Calibri" pitchFamily="34" charset="-122"/>
                <a:cs typeface="Calibri" pitchFamily="34" charset="-120"/>
              </a:rPr>
              <a:t>29 October 2026, Python 3.13. OSV was stubbed. This is the rule, not a live advisory count.</a:t>
            </a:r>
            <a:endParaRPr lang="en-US" sz="15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1645920"/>
          <a:ext cx="11155680" cy="4023360"/>
        </p:xfrm>
        <a:graphic>
          <a:graphicData uri="http://schemas.openxmlformats.org/drawingml/2006/table">
            <a:tbl>
              <a:tblPr/>
              <a:tblGrid>
                <a:gridCol w="5029200"/>
                <a:gridCol w="4297680"/>
                <a:gridCol w="1828800"/>
              </a:tblGrid>
              <a:tr h="67056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Check</a:t>
                      </a:r>
                      <a:endParaRPr lang="en-US" sz="1400" dirty="0">
                        <a:latin typeface="Calibri" charset="0"/>
                        <a:ea typeface="Calibri" charset="0"/>
                        <a:cs typeface="Calibri" charset="0"/>
                      </a:endParaRPr>
                    </a:p>
                  </a:txBody>
                  <a:tcPr marL="91440" marR="91440" marT="45720" marB="45720" anchor="ctr">
                    <a:lnL w="12700" cap="flat" cmpd="sng" algn="ctr">
                      <a:solidFill>
                        <a:srgbClr val="F6FAFB"/>
                      </a:solidFill>
                      <a:prstDash val="solid"/>
                      <a:round/>
                      <a:headEnd type="none" w="med" len="med"/>
                      <a:tailEnd type="none" w="med" len="med"/>
                    </a:lnL>
                    <a:lnR w="12700" cap="flat" cmpd="sng" algn="ctr">
                      <a:solidFill>
                        <a:srgbClr val="F6FAFB"/>
                      </a:solidFill>
                      <a:prstDash val="solid"/>
                      <a:round/>
                      <a:headEnd type="none" w="med" len="med"/>
                      <a:tailEnd type="none" w="med" len="med"/>
                    </a:lnR>
                    <a:lnT w="12700" cap="flat" cmpd="sng" algn="ctr">
                      <a:solidFill>
                        <a:srgbClr val="F6FAFB"/>
                      </a:solidFill>
                      <a:prstDash val="solid"/>
                      <a:round/>
                      <a:headEnd type="none" w="med" len="med"/>
                      <a:tailEnd type="none" w="med" len="med"/>
                    </a:lnT>
                    <a:lnB w="12700" cap="flat" cmpd="sng" algn="ctr">
                      <a:solidFill>
                        <a:srgbClr val="F6FAFB"/>
                      </a:solidFill>
                      <a:prstDash val="solid"/>
                      <a:round/>
                      <a:headEnd type="none" w="med" len="med"/>
                      <a:tailEnd type="none" w="med" len="med"/>
                    </a:lnB>
                    <a:solidFill>
                      <a:srgbClr val="17242C"/>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Expected</a:t>
                      </a:r>
                      <a:endParaRPr lang="en-US" sz="1400" dirty="0">
                        <a:latin typeface="Calibri" charset="0"/>
                        <a:ea typeface="Calibri" charset="0"/>
                        <a:cs typeface="Calibri" charset="0"/>
                      </a:endParaRPr>
                    </a:p>
                  </a:txBody>
                  <a:tcPr marL="91440" marR="91440" marT="45720" marB="45720" anchor="ctr">
                    <a:lnL w="12700" cap="flat" cmpd="sng" algn="ctr">
                      <a:solidFill>
                        <a:srgbClr val="F6FAFB"/>
                      </a:solidFill>
                      <a:prstDash val="solid"/>
                      <a:round/>
                      <a:headEnd type="none" w="med" len="med"/>
                      <a:tailEnd type="none" w="med" len="med"/>
                    </a:lnL>
                    <a:lnR w="12700" cap="flat" cmpd="sng" algn="ctr">
                      <a:solidFill>
                        <a:srgbClr val="F6FAFB"/>
                      </a:solidFill>
                      <a:prstDash val="solid"/>
                      <a:round/>
                      <a:headEnd type="none" w="med" len="med"/>
                      <a:tailEnd type="none" w="med" len="med"/>
                    </a:lnR>
                    <a:lnT w="12700" cap="flat" cmpd="sng" algn="ctr">
                      <a:solidFill>
                        <a:srgbClr val="F6FAFB"/>
                      </a:solidFill>
                      <a:prstDash val="solid"/>
                      <a:round/>
                      <a:headEnd type="none" w="med" len="med"/>
                      <a:tailEnd type="none" w="med" len="med"/>
                    </a:lnT>
                    <a:lnB w="12700" cap="flat" cmpd="sng" algn="ctr">
                      <a:solidFill>
                        <a:srgbClr val="F6FAFB"/>
                      </a:solidFill>
                      <a:prstDash val="solid"/>
                      <a:round/>
                      <a:headEnd type="none" w="med" len="med"/>
                      <a:tailEnd type="none" w="med" len="med"/>
                    </a:lnB>
                    <a:solidFill>
                      <a:srgbClr val="17242C"/>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Actual</a:t>
                      </a:r>
                      <a:endParaRPr lang="en-US" sz="1400" dirty="0">
                        <a:latin typeface="Calibri" charset="0"/>
                        <a:ea typeface="Calibri" charset="0"/>
                        <a:cs typeface="Calibri" charset="0"/>
                      </a:endParaRPr>
                    </a:p>
                  </a:txBody>
                  <a:tcPr marL="91440" marR="91440" marT="45720" marB="45720" anchor="ctr">
                    <a:lnL w="12700" cap="flat" cmpd="sng" algn="ctr">
                      <a:solidFill>
                        <a:srgbClr val="F6FAFB"/>
                      </a:solidFill>
                      <a:prstDash val="solid"/>
                      <a:round/>
                      <a:headEnd type="none" w="med" len="med"/>
                      <a:tailEnd type="none" w="med" len="med"/>
                    </a:lnL>
                    <a:lnR w="12700" cap="flat" cmpd="sng" algn="ctr">
                      <a:solidFill>
                        <a:srgbClr val="F6FAFB"/>
                      </a:solidFill>
                      <a:prstDash val="solid"/>
                      <a:round/>
                      <a:headEnd type="none" w="med" len="med"/>
                      <a:tailEnd type="none" w="med" len="med"/>
                    </a:lnR>
                    <a:lnT w="12700" cap="flat" cmpd="sng" algn="ctr">
                      <a:solidFill>
                        <a:srgbClr val="F6FAFB"/>
                      </a:solidFill>
                      <a:prstDash val="solid"/>
                      <a:round/>
                      <a:headEnd type="none" w="med" len="med"/>
                      <a:tailEnd type="none" w="med" len="med"/>
                    </a:lnT>
                    <a:lnB w="12700" cap="flat" cmpd="sng" algn="ctr">
                      <a:solidFill>
                        <a:srgbClr val="F6FAFB"/>
                      </a:solidFill>
                      <a:prstDash val="solid"/>
                      <a:round/>
                      <a:headEnd type="none" w="med" len="med"/>
                      <a:tailEnd type="none" w="med" len="med"/>
                    </a:lnB>
                    <a:solidFill>
                      <a:srgbClr val="17242C"/>
                    </a:solidFill>
                  </a:tcPr>
                </a:tc>
              </a:tr>
              <a:tr h="670560">
                <a:tc>
                  <a:txBody>
                    <a:bodyPr/>
                    <a:lstStyle/>
                    <a:p>
                      <a:pPr algn="l" indent="0" marL="0">
                        <a:buNone/>
                      </a:pPr>
                      <a:r>
                        <a:rPr lang="en-US" sz="1400" dirty="0">
                          <a:solidFill>
                            <a:srgbClr val="17242C"/>
                          </a:solidFill>
                          <a:latin typeface="Calibri" pitchFamily="34" charset="0"/>
                          <a:ea typeface="Calibri" pitchFamily="34" charset="-122"/>
                          <a:cs typeface="Calibri" pitchFamily="34" charset="-120"/>
                        </a:rPr>
                        <a:t>lodash 4.17.20, fixes at 4.17.21 and 4.17.23</a:t>
                      </a:r>
                      <a:endParaRPr lang="en-US" sz="1400" dirty="0">
                        <a:latin typeface="Calibri" charset="0"/>
                        <a:ea typeface="Calibri" charset="0"/>
                        <a:cs typeface="Calibri" charset="0"/>
                      </a:endParaRPr>
                    </a:p>
                  </a:txBody>
                  <a:tcPr marL="91440" marR="91440" marT="45720" marB="45720" anchor="ctr">
                    <a:lnL w="12700" cap="flat" cmpd="sng" algn="ctr">
                      <a:solidFill>
                        <a:srgbClr val="F6FAFB"/>
                      </a:solidFill>
                      <a:prstDash val="solid"/>
                      <a:round/>
                      <a:headEnd type="none" w="med" len="med"/>
                      <a:tailEnd type="none" w="med" len="med"/>
                    </a:lnL>
                    <a:lnR w="12700" cap="flat" cmpd="sng" algn="ctr">
                      <a:solidFill>
                        <a:srgbClr val="F6FAFB"/>
                      </a:solidFill>
                      <a:prstDash val="solid"/>
                      <a:round/>
                      <a:headEnd type="none" w="med" len="med"/>
                      <a:tailEnd type="none" w="med" len="med"/>
                    </a:lnR>
                    <a:lnT w="12700" cap="flat" cmpd="sng" algn="ctr">
                      <a:solidFill>
                        <a:srgbClr val="F6FAFB"/>
                      </a:solidFill>
                      <a:prstDash val="solid"/>
                      <a:round/>
                      <a:headEnd type="none" w="med" len="med"/>
                      <a:tailEnd type="none" w="med" len="med"/>
                    </a:lnT>
                    <a:lnB w="12700" cap="flat" cmpd="sng" algn="ctr">
                      <a:solidFill>
                        <a:srgbClr val="F6FAFB"/>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7242C"/>
                          </a:solidFill>
                          <a:latin typeface="Calibri" pitchFamily="34" charset="0"/>
                          <a:ea typeface="Calibri" pitchFamily="34" charset="-122"/>
                          <a:cs typeface="Calibri" pitchFamily="34" charset="-120"/>
                        </a:rPr>
                        <a:t>Recommend 4.17.23</a:t>
                      </a:r>
                      <a:endParaRPr lang="en-US" sz="1400" dirty="0">
                        <a:latin typeface="Calibri" charset="0"/>
                        <a:ea typeface="Calibri" charset="0"/>
                        <a:cs typeface="Calibri" charset="0"/>
                      </a:endParaRPr>
                    </a:p>
                  </a:txBody>
                  <a:tcPr marL="91440" marR="91440" marT="45720" marB="45720" anchor="ctr">
                    <a:lnL w="12700" cap="flat" cmpd="sng" algn="ctr">
                      <a:solidFill>
                        <a:srgbClr val="F6FAFB"/>
                      </a:solidFill>
                      <a:prstDash val="solid"/>
                      <a:round/>
                      <a:headEnd type="none" w="med" len="med"/>
                      <a:tailEnd type="none" w="med" len="med"/>
                    </a:lnL>
                    <a:lnR w="12700" cap="flat" cmpd="sng" algn="ctr">
                      <a:solidFill>
                        <a:srgbClr val="F6FAFB"/>
                      </a:solidFill>
                      <a:prstDash val="solid"/>
                      <a:round/>
                      <a:headEnd type="none" w="med" len="med"/>
                      <a:tailEnd type="none" w="med" len="med"/>
                    </a:lnR>
                    <a:lnT w="12700" cap="flat" cmpd="sng" algn="ctr">
                      <a:solidFill>
                        <a:srgbClr val="F6FAFB"/>
                      </a:solidFill>
                      <a:prstDash val="solid"/>
                      <a:round/>
                      <a:headEnd type="none" w="med" len="med"/>
                      <a:tailEnd type="none" w="med" len="med"/>
                    </a:lnT>
                    <a:lnB w="12700" cap="flat" cmpd="sng" algn="ctr">
                      <a:solidFill>
                        <a:srgbClr val="F6FAFB"/>
                      </a:solidFill>
                      <a:prstDash val="solid"/>
                      <a:round/>
                      <a:headEnd type="none" w="med" len="med"/>
                      <a:tailEnd type="none" w="med" len="med"/>
                    </a:lnB>
                    <a:solidFill>
                      <a:srgbClr val="FFFFFF"/>
                    </a:solidFill>
                  </a:tcPr>
                </a:tc>
                <a:tc>
                  <a:txBody>
                    <a:bodyPr/>
                    <a:lstStyle/>
                    <a:p>
                      <a:pPr algn="l" indent="0" marL="0">
                        <a:buNone/>
                      </a:pPr>
                      <a:r>
                        <a:rPr lang="en-US" sz="1400" b="1" dirty="0">
                          <a:solidFill>
                            <a:srgbClr val="0C6B62"/>
                          </a:solidFill>
                          <a:latin typeface="Calibri" pitchFamily="34" charset="0"/>
                          <a:ea typeface="Calibri" pitchFamily="34" charset="-122"/>
                          <a:cs typeface="Calibri" pitchFamily="34" charset="-120"/>
                        </a:rPr>
                        <a:t>Pass</a:t>
                      </a:r>
                      <a:endParaRPr lang="en-US" sz="1400" dirty="0">
                        <a:latin typeface="Calibri" charset="0"/>
                        <a:ea typeface="Calibri" charset="0"/>
                        <a:cs typeface="Calibri" charset="0"/>
                      </a:endParaRPr>
                    </a:p>
                  </a:txBody>
                  <a:tcPr marL="91440" marR="91440" marT="45720" marB="45720" anchor="ctr">
                    <a:lnL w="12700" cap="flat" cmpd="sng" algn="ctr">
                      <a:solidFill>
                        <a:srgbClr val="F6FAFB"/>
                      </a:solidFill>
                      <a:prstDash val="solid"/>
                      <a:round/>
                      <a:headEnd type="none" w="med" len="med"/>
                      <a:tailEnd type="none" w="med" len="med"/>
                    </a:lnL>
                    <a:lnR w="12700" cap="flat" cmpd="sng" algn="ctr">
                      <a:solidFill>
                        <a:srgbClr val="F6FAFB"/>
                      </a:solidFill>
                      <a:prstDash val="solid"/>
                      <a:round/>
                      <a:headEnd type="none" w="med" len="med"/>
                      <a:tailEnd type="none" w="med" len="med"/>
                    </a:lnR>
                    <a:lnT w="12700" cap="flat" cmpd="sng" algn="ctr">
                      <a:solidFill>
                        <a:srgbClr val="F6FAFB"/>
                      </a:solidFill>
                      <a:prstDash val="solid"/>
                      <a:round/>
                      <a:headEnd type="none" w="med" len="med"/>
                      <a:tailEnd type="none" w="med" len="med"/>
                    </a:lnT>
                    <a:lnB w="12700" cap="flat" cmpd="sng" algn="ctr">
                      <a:solidFill>
                        <a:srgbClr val="F6FAFB"/>
                      </a:solidFill>
                      <a:prstDash val="solid"/>
                      <a:round/>
                      <a:headEnd type="none" w="med" len="med"/>
                      <a:tailEnd type="none" w="med" len="med"/>
                    </a:lnB>
                    <a:solidFill>
                      <a:srgbClr val="E5F4F2"/>
                    </a:solidFill>
                  </a:tcPr>
                </a:tc>
              </a:tr>
              <a:tr h="670560">
                <a:tc>
                  <a:txBody>
                    <a:bodyPr/>
                    <a:lstStyle/>
                    <a:p>
                      <a:pPr algn="l" indent="0" marL="0">
                        <a:buNone/>
                      </a:pPr>
                      <a:r>
                        <a:rPr lang="en-US" sz="1400" dirty="0">
                          <a:solidFill>
                            <a:srgbClr val="17242C"/>
                          </a:solidFill>
                          <a:latin typeface="Calibri" pitchFamily="34" charset="0"/>
                          <a:ea typeface="Calibri" pitchFamily="34" charset="-122"/>
                          <a:cs typeface="Calibri" pitchFamily="34" charset="-120"/>
                        </a:rPr>
                        <a:t>High finding, development only</a:t>
                      </a:r>
                      <a:endParaRPr lang="en-US" sz="1400" dirty="0">
                        <a:latin typeface="Calibri" charset="0"/>
                        <a:ea typeface="Calibri" charset="0"/>
                        <a:cs typeface="Calibri" charset="0"/>
                      </a:endParaRPr>
                    </a:p>
                  </a:txBody>
                  <a:tcPr marL="91440" marR="91440" marT="45720" marB="45720" anchor="ctr">
                    <a:lnL w="12700" cap="flat" cmpd="sng" algn="ctr">
                      <a:solidFill>
                        <a:srgbClr val="F6FAFB"/>
                      </a:solidFill>
                      <a:prstDash val="solid"/>
                      <a:round/>
                      <a:headEnd type="none" w="med" len="med"/>
                      <a:tailEnd type="none" w="med" len="med"/>
                    </a:lnL>
                    <a:lnR w="12700" cap="flat" cmpd="sng" algn="ctr">
                      <a:solidFill>
                        <a:srgbClr val="F6FAFB"/>
                      </a:solidFill>
                      <a:prstDash val="solid"/>
                      <a:round/>
                      <a:headEnd type="none" w="med" len="med"/>
                      <a:tailEnd type="none" w="med" len="med"/>
                    </a:lnR>
                    <a:lnT w="12700" cap="flat" cmpd="sng" algn="ctr">
                      <a:solidFill>
                        <a:srgbClr val="F6FAFB"/>
                      </a:solidFill>
                      <a:prstDash val="solid"/>
                      <a:round/>
                      <a:headEnd type="none" w="med" len="med"/>
                      <a:tailEnd type="none" w="med" len="med"/>
                    </a:lnT>
                    <a:lnB w="12700" cap="flat" cmpd="sng" algn="ctr">
                      <a:solidFill>
                        <a:srgbClr val="F6FAFB"/>
                      </a:solidFill>
                      <a:prstDash val="solid"/>
                      <a:round/>
                      <a:headEnd type="none" w="med" len="med"/>
                      <a:tailEnd type="none" w="med" len="med"/>
                    </a:lnB>
                    <a:solidFill>
                      <a:srgbClr val="EEF4F5"/>
                    </a:solidFill>
                  </a:tcPr>
                </a:tc>
                <a:tc>
                  <a:txBody>
                    <a:bodyPr/>
                    <a:lstStyle/>
                    <a:p>
                      <a:pPr algn="l" indent="0" marL="0">
                        <a:buNone/>
                      </a:pPr>
                      <a:r>
                        <a:rPr lang="en-US" sz="1400" dirty="0">
                          <a:solidFill>
                            <a:srgbClr val="17242C"/>
                          </a:solidFill>
                          <a:latin typeface="Calibri" pitchFamily="34" charset="0"/>
                          <a:ea typeface="Calibri" pitchFamily="34" charset="-122"/>
                          <a:cs typeface="Calibri" pitchFamily="34" charset="-120"/>
                        </a:rPr>
                        <a:t>Exit 0, then 1 if --strict</a:t>
                      </a:r>
                      <a:endParaRPr lang="en-US" sz="1400" dirty="0">
                        <a:latin typeface="Calibri" charset="0"/>
                        <a:ea typeface="Calibri" charset="0"/>
                        <a:cs typeface="Calibri" charset="0"/>
                      </a:endParaRPr>
                    </a:p>
                  </a:txBody>
                  <a:tcPr marL="91440" marR="91440" marT="45720" marB="45720" anchor="ctr">
                    <a:lnL w="12700" cap="flat" cmpd="sng" algn="ctr">
                      <a:solidFill>
                        <a:srgbClr val="F6FAFB"/>
                      </a:solidFill>
                      <a:prstDash val="solid"/>
                      <a:round/>
                      <a:headEnd type="none" w="med" len="med"/>
                      <a:tailEnd type="none" w="med" len="med"/>
                    </a:lnL>
                    <a:lnR w="12700" cap="flat" cmpd="sng" algn="ctr">
                      <a:solidFill>
                        <a:srgbClr val="F6FAFB"/>
                      </a:solidFill>
                      <a:prstDash val="solid"/>
                      <a:round/>
                      <a:headEnd type="none" w="med" len="med"/>
                      <a:tailEnd type="none" w="med" len="med"/>
                    </a:lnR>
                    <a:lnT w="12700" cap="flat" cmpd="sng" algn="ctr">
                      <a:solidFill>
                        <a:srgbClr val="F6FAFB"/>
                      </a:solidFill>
                      <a:prstDash val="solid"/>
                      <a:round/>
                      <a:headEnd type="none" w="med" len="med"/>
                      <a:tailEnd type="none" w="med" len="med"/>
                    </a:lnT>
                    <a:lnB w="12700" cap="flat" cmpd="sng" algn="ctr">
                      <a:solidFill>
                        <a:srgbClr val="F6FAFB"/>
                      </a:solidFill>
                      <a:prstDash val="solid"/>
                      <a:round/>
                      <a:headEnd type="none" w="med" len="med"/>
                      <a:tailEnd type="none" w="med" len="med"/>
                    </a:lnB>
                    <a:solidFill>
                      <a:srgbClr val="EEF4F5"/>
                    </a:solidFill>
                  </a:tcPr>
                </a:tc>
                <a:tc>
                  <a:txBody>
                    <a:bodyPr/>
                    <a:lstStyle/>
                    <a:p>
                      <a:pPr algn="l" indent="0" marL="0">
                        <a:buNone/>
                      </a:pPr>
                      <a:r>
                        <a:rPr lang="en-US" sz="1400" b="1" dirty="0">
                          <a:solidFill>
                            <a:srgbClr val="0C6B62"/>
                          </a:solidFill>
                          <a:latin typeface="Calibri" pitchFamily="34" charset="0"/>
                          <a:ea typeface="Calibri" pitchFamily="34" charset="-122"/>
                          <a:cs typeface="Calibri" pitchFamily="34" charset="-120"/>
                        </a:rPr>
                        <a:t>Pass</a:t>
                      </a:r>
                      <a:endParaRPr lang="en-US" sz="1400" dirty="0">
                        <a:latin typeface="Calibri" charset="0"/>
                        <a:ea typeface="Calibri" charset="0"/>
                        <a:cs typeface="Calibri" charset="0"/>
                      </a:endParaRPr>
                    </a:p>
                  </a:txBody>
                  <a:tcPr marL="91440" marR="91440" marT="45720" marB="45720" anchor="ctr">
                    <a:lnL w="12700" cap="flat" cmpd="sng" algn="ctr">
                      <a:solidFill>
                        <a:srgbClr val="F6FAFB"/>
                      </a:solidFill>
                      <a:prstDash val="solid"/>
                      <a:round/>
                      <a:headEnd type="none" w="med" len="med"/>
                      <a:tailEnd type="none" w="med" len="med"/>
                    </a:lnL>
                    <a:lnR w="12700" cap="flat" cmpd="sng" algn="ctr">
                      <a:solidFill>
                        <a:srgbClr val="F6FAFB"/>
                      </a:solidFill>
                      <a:prstDash val="solid"/>
                      <a:round/>
                      <a:headEnd type="none" w="med" len="med"/>
                      <a:tailEnd type="none" w="med" len="med"/>
                    </a:lnR>
                    <a:lnT w="12700" cap="flat" cmpd="sng" algn="ctr">
                      <a:solidFill>
                        <a:srgbClr val="F6FAFB"/>
                      </a:solidFill>
                      <a:prstDash val="solid"/>
                      <a:round/>
                      <a:headEnd type="none" w="med" len="med"/>
                      <a:tailEnd type="none" w="med" len="med"/>
                    </a:lnT>
                    <a:lnB w="12700" cap="flat" cmpd="sng" algn="ctr">
                      <a:solidFill>
                        <a:srgbClr val="F6FAFB"/>
                      </a:solidFill>
                      <a:prstDash val="solid"/>
                      <a:round/>
                      <a:headEnd type="none" w="med" len="med"/>
                      <a:tailEnd type="none" w="med" len="med"/>
                    </a:lnB>
                    <a:solidFill>
                      <a:srgbClr val="D7EFEA"/>
                    </a:solidFill>
                  </a:tcPr>
                </a:tc>
              </a:tr>
              <a:tr h="670560">
                <a:tc>
                  <a:txBody>
                    <a:bodyPr/>
                    <a:lstStyle/>
                    <a:p>
                      <a:pPr algn="l" indent="0" marL="0">
                        <a:buNone/>
                      </a:pPr>
                      <a:r>
                        <a:rPr lang="en-US" sz="1400" dirty="0">
                          <a:solidFill>
                            <a:srgbClr val="17242C"/>
                          </a:solidFill>
                          <a:latin typeface="Calibri" pitchFamily="34" charset="0"/>
                          <a:ea typeface="Calibri" pitchFamily="34" charset="-122"/>
                          <a:cs typeface="Calibri" pitchFamily="34" charset="-120"/>
                        </a:rPr>
                        <a:t>MAL- finding, strict off</a:t>
                      </a:r>
                      <a:endParaRPr lang="en-US" sz="1400" dirty="0">
                        <a:latin typeface="Calibri" charset="0"/>
                        <a:ea typeface="Calibri" charset="0"/>
                        <a:cs typeface="Calibri" charset="0"/>
                      </a:endParaRPr>
                    </a:p>
                  </a:txBody>
                  <a:tcPr marL="91440" marR="91440" marT="45720" marB="45720" anchor="ctr">
                    <a:lnL w="12700" cap="flat" cmpd="sng" algn="ctr">
                      <a:solidFill>
                        <a:srgbClr val="F6FAFB"/>
                      </a:solidFill>
                      <a:prstDash val="solid"/>
                      <a:round/>
                      <a:headEnd type="none" w="med" len="med"/>
                      <a:tailEnd type="none" w="med" len="med"/>
                    </a:lnL>
                    <a:lnR w="12700" cap="flat" cmpd="sng" algn="ctr">
                      <a:solidFill>
                        <a:srgbClr val="F6FAFB"/>
                      </a:solidFill>
                      <a:prstDash val="solid"/>
                      <a:round/>
                      <a:headEnd type="none" w="med" len="med"/>
                      <a:tailEnd type="none" w="med" len="med"/>
                    </a:lnR>
                    <a:lnT w="12700" cap="flat" cmpd="sng" algn="ctr">
                      <a:solidFill>
                        <a:srgbClr val="F6FAFB"/>
                      </a:solidFill>
                      <a:prstDash val="solid"/>
                      <a:round/>
                      <a:headEnd type="none" w="med" len="med"/>
                      <a:tailEnd type="none" w="med" len="med"/>
                    </a:lnT>
                    <a:lnB w="12700" cap="flat" cmpd="sng" algn="ctr">
                      <a:solidFill>
                        <a:srgbClr val="F6FAFB"/>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7242C"/>
                          </a:solidFill>
                          <a:latin typeface="Calibri" pitchFamily="34" charset="0"/>
                          <a:ea typeface="Calibri" pitchFamily="34" charset="-122"/>
                          <a:cs typeface="Calibri" pitchFamily="34" charset="-120"/>
                        </a:rPr>
                        <a:t>Exit 1</a:t>
                      </a:r>
                      <a:endParaRPr lang="en-US" sz="1400" dirty="0">
                        <a:latin typeface="Calibri" charset="0"/>
                        <a:ea typeface="Calibri" charset="0"/>
                        <a:cs typeface="Calibri" charset="0"/>
                      </a:endParaRPr>
                    </a:p>
                  </a:txBody>
                  <a:tcPr marL="91440" marR="91440" marT="45720" marB="45720" anchor="ctr">
                    <a:lnL w="12700" cap="flat" cmpd="sng" algn="ctr">
                      <a:solidFill>
                        <a:srgbClr val="F6FAFB"/>
                      </a:solidFill>
                      <a:prstDash val="solid"/>
                      <a:round/>
                      <a:headEnd type="none" w="med" len="med"/>
                      <a:tailEnd type="none" w="med" len="med"/>
                    </a:lnL>
                    <a:lnR w="12700" cap="flat" cmpd="sng" algn="ctr">
                      <a:solidFill>
                        <a:srgbClr val="F6FAFB"/>
                      </a:solidFill>
                      <a:prstDash val="solid"/>
                      <a:round/>
                      <a:headEnd type="none" w="med" len="med"/>
                      <a:tailEnd type="none" w="med" len="med"/>
                    </a:lnR>
                    <a:lnT w="12700" cap="flat" cmpd="sng" algn="ctr">
                      <a:solidFill>
                        <a:srgbClr val="F6FAFB"/>
                      </a:solidFill>
                      <a:prstDash val="solid"/>
                      <a:round/>
                      <a:headEnd type="none" w="med" len="med"/>
                      <a:tailEnd type="none" w="med" len="med"/>
                    </a:lnT>
                    <a:lnB w="12700" cap="flat" cmpd="sng" algn="ctr">
                      <a:solidFill>
                        <a:srgbClr val="F6FAFB"/>
                      </a:solidFill>
                      <a:prstDash val="solid"/>
                      <a:round/>
                      <a:headEnd type="none" w="med" len="med"/>
                      <a:tailEnd type="none" w="med" len="med"/>
                    </a:lnB>
                    <a:solidFill>
                      <a:srgbClr val="FFFFFF"/>
                    </a:solidFill>
                  </a:tcPr>
                </a:tc>
                <a:tc>
                  <a:txBody>
                    <a:bodyPr/>
                    <a:lstStyle/>
                    <a:p>
                      <a:pPr algn="l" indent="0" marL="0">
                        <a:buNone/>
                      </a:pPr>
                      <a:r>
                        <a:rPr lang="en-US" sz="1400" b="1" dirty="0">
                          <a:solidFill>
                            <a:srgbClr val="0C6B62"/>
                          </a:solidFill>
                          <a:latin typeface="Calibri" pitchFamily="34" charset="0"/>
                          <a:ea typeface="Calibri" pitchFamily="34" charset="-122"/>
                          <a:cs typeface="Calibri" pitchFamily="34" charset="-120"/>
                        </a:rPr>
                        <a:t>Pass</a:t>
                      </a:r>
                      <a:endParaRPr lang="en-US" sz="1400" dirty="0">
                        <a:latin typeface="Calibri" charset="0"/>
                        <a:ea typeface="Calibri" charset="0"/>
                        <a:cs typeface="Calibri" charset="0"/>
                      </a:endParaRPr>
                    </a:p>
                  </a:txBody>
                  <a:tcPr marL="91440" marR="91440" marT="45720" marB="45720" anchor="ctr">
                    <a:lnL w="12700" cap="flat" cmpd="sng" algn="ctr">
                      <a:solidFill>
                        <a:srgbClr val="F6FAFB"/>
                      </a:solidFill>
                      <a:prstDash val="solid"/>
                      <a:round/>
                      <a:headEnd type="none" w="med" len="med"/>
                      <a:tailEnd type="none" w="med" len="med"/>
                    </a:lnL>
                    <a:lnR w="12700" cap="flat" cmpd="sng" algn="ctr">
                      <a:solidFill>
                        <a:srgbClr val="F6FAFB"/>
                      </a:solidFill>
                      <a:prstDash val="solid"/>
                      <a:round/>
                      <a:headEnd type="none" w="med" len="med"/>
                      <a:tailEnd type="none" w="med" len="med"/>
                    </a:lnR>
                    <a:lnT w="12700" cap="flat" cmpd="sng" algn="ctr">
                      <a:solidFill>
                        <a:srgbClr val="F6FAFB"/>
                      </a:solidFill>
                      <a:prstDash val="solid"/>
                      <a:round/>
                      <a:headEnd type="none" w="med" len="med"/>
                      <a:tailEnd type="none" w="med" len="med"/>
                    </a:lnT>
                    <a:lnB w="12700" cap="flat" cmpd="sng" algn="ctr">
                      <a:solidFill>
                        <a:srgbClr val="F6FAFB"/>
                      </a:solidFill>
                      <a:prstDash val="solid"/>
                      <a:round/>
                      <a:headEnd type="none" w="med" len="med"/>
                      <a:tailEnd type="none" w="med" len="med"/>
                    </a:lnB>
                    <a:solidFill>
                      <a:srgbClr val="E5F4F2"/>
                    </a:solidFill>
                  </a:tcPr>
                </a:tc>
              </a:tr>
              <a:tr h="670560">
                <a:tc>
                  <a:txBody>
                    <a:bodyPr/>
                    <a:lstStyle/>
                    <a:p>
                      <a:pPr algn="l" indent="0" marL="0">
                        <a:buNone/>
                      </a:pPr>
                      <a:r>
                        <a:rPr lang="en-US" sz="1400" dirty="0">
                          <a:solidFill>
                            <a:srgbClr val="17242C"/>
                          </a:solidFill>
                          <a:latin typeface="Calibri" pitchFamily="34" charset="0"/>
                          <a:ea typeface="Calibri" pitchFamily="34" charset="-122"/>
                          <a:cs typeface="Calibri" pitchFamily="34" charset="-120"/>
                        </a:rPr>
                        <a:t>Ignore saved for GHSA-dev</a:t>
                      </a:r>
                      <a:endParaRPr lang="en-US" sz="1400" dirty="0">
                        <a:latin typeface="Calibri" charset="0"/>
                        <a:ea typeface="Calibri" charset="0"/>
                        <a:cs typeface="Calibri" charset="0"/>
                      </a:endParaRPr>
                    </a:p>
                  </a:txBody>
                  <a:tcPr marL="91440" marR="91440" marT="45720" marB="45720" anchor="ctr">
                    <a:lnL w="12700" cap="flat" cmpd="sng" algn="ctr">
                      <a:solidFill>
                        <a:srgbClr val="F6FAFB"/>
                      </a:solidFill>
                      <a:prstDash val="solid"/>
                      <a:round/>
                      <a:headEnd type="none" w="med" len="med"/>
                      <a:tailEnd type="none" w="med" len="med"/>
                    </a:lnL>
                    <a:lnR w="12700" cap="flat" cmpd="sng" algn="ctr">
                      <a:solidFill>
                        <a:srgbClr val="F6FAFB"/>
                      </a:solidFill>
                      <a:prstDash val="solid"/>
                      <a:round/>
                      <a:headEnd type="none" w="med" len="med"/>
                      <a:tailEnd type="none" w="med" len="med"/>
                    </a:lnR>
                    <a:lnT w="12700" cap="flat" cmpd="sng" algn="ctr">
                      <a:solidFill>
                        <a:srgbClr val="F6FAFB"/>
                      </a:solidFill>
                      <a:prstDash val="solid"/>
                      <a:round/>
                      <a:headEnd type="none" w="med" len="med"/>
                      <a:tailEnd type="none" w="med" len="med"/>
                    </a:lnT>
                    <a:lnB w="12700" cap="flat" cmpd="sng" algn="ctr">
                      <a:solidFill>
                        <a:srgbClr val="F6FAFB"/>
                      </a:solidFill>
                      <a:prstDash val="solid"/>
                      <a:round/>
                      <a:headEnd type="none" w="med" len="med"/>
                      <a:tailEnd type="none" w="med" len="med"/>
                    </a:lnB>
                    <a:solidFill>
                      <a:srgbClr val="EEF4F5"/>
                    </a:solidFill>
                  </a:tcPr>
                </a:tc>
                <a:tc>
                  <a:txBody>
                    <a:bodyPr/>
                    <a:lstStyle/>
                    <a:p>
                      <a:pPr algn="l" indent="0" marL="0">
                        <a:buNone/>
                      </a:pPr>
                      <a:r>
                        <a:rPr lang="en-US" sz="1400" dirty="0">
                          <a:solidFill>
                            <a:srgbClr val="17242C"/>
                          </a:solidFill>
                          <a:latin typeface="Calibri" pitchFamily="34" charset="0"/>
                          <a:ea typeface="Calibri" pitchFamily="34" charset="-122"/>
                          <a:cs typeface="Calibri" pitchFamily="34" charset="-120"/>
                        </a:rPr>
                        <a:t>Exit code still 1</a:t>
                      </a:r>
                      <a:endParaRPr lang="en-US" sz="1400" dirty="0">
                        <a:latin typeface="Calibri" charset="0"/>
                        <a:ea typeface="Calibri" charset="0"/>
                        <a:cs typeface="Calibri" charset="0"/>
                      </a:endParaRPr>
                    </a:p>
                  </a:txBody>
                  <a:tcPr marL="91440" marR="91440" marT="45720" marB="45720" anchor="ctr">
                    <a:lnL w="12700" cap="flat" cmpd="sng" algn="ctr">
                      <a:solidFill>
                        <a:srgbClr val="F6FAFB"/>
                      </a:solidFill>
                      <a:prstDash val="solid"/>
                      <a:round/>
                      <a:headEnd type="none" w="med" len="med"/>
                      <a:tailEnd type="none" w="med" len="med"/>
                    </a:lnL>
                    <a:lnR w="12700" cap="flat" cmpd="sng" algn="ctr">
                      <a:solidFill>
                        <a:srgbClr val="F6FAFB"/>
                      </a:solidFill>
                      <a:prstDash val="solid"/>
                      <a:round/>
                      <a:headEnd type="none" w="med" len="med"/>
                      <a:tailEnd type="none" w="med" len="med"/>
                    </a:lnR>
                    <a:lnT w="12700" cap="flat" cmpd="sng" algn="ctr">
                      <a:solidFill>
                        <a:srgbClr val="F6FAFB"/>
                      </a:solidFill>
                      <a:prstDash val="solid"/>
                      <a:round/>
                      <a:headEnd type="none" w="med" len="med"/>
                      <a:tailEnd type="none" w="med" len="med"/>
                    </a:lnT>
                    <a:lnB w="12700" cap="flat" cmpd="sng" algn="ctr">
                      <a:solidFill>
                        <a:srgbClr val="F6FAFB"/>
                      </a:solidFill>
                      <a:prstDash val="solid"/>
                      <a:round/>
                      <a:headEnd type="none" w="med" len="med"/>
                      <a:tailEnd type="none" w="med" len="med"/>
                    </a:lnB>
                    <a:solidFill>
                      <a:srgbClr val="EEF4F5"/>
                    </a:solidFill>
                  </a:tcPr>
                </a:tc>
                <a:tc>
                  <a:txBody>
                    <a:bodyPr/>
                    <a:lstStyle/>
                    <a:p>
                      <a:pPr algn="l" indent="0" marL="0">
                        <a:buNone/>
                      </a:pPr>
                      <a:r>
                        <a:rPr lang="en-US" sz="1400" b="1" dirty="0">
                          <a:solidFill>
                            <a:srgbClr val="0C6B62"/>
                          </a:solidFill>
                          <a:latin typeface="Calibri" pitchFamily="34" charset="0"/>
                          <a:ea typeface="Calibri" pitchFamily="34" charset="-122"/>
                          <a:cs typeface="Calibri" pitchFamily="34" charset="-120"/>
                        </a:rPr>
                        <a:t>Pass</a:t>
                      </a:r>
                      <a:endParaRPr lang="en-US" sz="1400" dirty="0">
                        <a:latin typeface="Calibri" charset="0"/>
                        <a:ea typeface="Calibri" charset="0"/>
                        <a:cs typeface="Calibri" charset="0"/>
                      </a:endParaRPr>
                    </a:p>
                  </a:txBody>
                  <a:tcPr marL="91440" marR="91440" marT="45720" marB="45720" anchor="ctr">
                    <a:lnL w="12700" cap="flat" cmpd="sng" algn="ctr">
                      <a:solidFill>
                        <a:srgbClr val="F6FAFB"/>
                      </a:solidFill>
                      <a:prstDash val="solid"/>
                      <a:round/>
                      <a:headEnd type="none" w="med" len="med"/>
                      <a:tailEnd type="none" w="med" len="med"/>
                    </a:lnL>
                    <a:lnR w="12700" cap="flat" cmpd="sng" algn="ctr">
                      <a:solidFill>
                        <a:srgbClr val="F6FAFB"/>
                      </a:solidFill>
                      <a:prstDash val="solid"/>
                      <a:round/>
                      <a:headEnd type="none" w="med" len="med"/>
                      <a:tailEnd type="none" w="med" len="med"/>
                    </a:lnR>
                    <a:lnT w="12700" cap="flat" cmpd="sng" algn="ctr">
                      <a:solidFill>
                        <a:srgbClr val="F6FAFB"/>
                      </a:solidFill>
                      <a:prstDash val="solid"/>
                      <a:round/>
                      <a:headEnd type="none" w="med" len="med"/>
                      <a:tailEnd type="none" w="med" len="med"/>
                    </a:lnT>
                    <a:lnB w="12700" cap="flat" cmpd="sng" algn="ctr">
                      <a:solidFill>
                        <a:srgbClr val="F6FAFB"/>
                      </a:solidFill>
                      <a:prstDash val="solid"/>
                      <a:round/>
                      <a:headEnd type="none" w="med" len="med"/>
                      <a:tailEnd type="none" w="med" len="med"/>
                    </a:lnB>
                    <a:solidFill>
                      <a:srgbClr val="D7EFEA"/>
                    </a:solidFill>
                  </a:tcPr>
                </a:tc>
              </a:tr>
              <a:tr h="670560">
                <a:tc>
                  <a:txBody>
                    <a:bodyPr/>
                    <a:lstStyle/>
                    <a:p>
                      <a:pPr algn="l" indent="0" marL="0">
                        <a:buNone/>
                      </a:pPr>
                      <a:r>
                        <a:rPr lang="en-US" sz="1400" dirty="0">
                          <a:solidFill>
                            <a:srgbClr val="17242C"/>
                          </a:solidFill>
                          <a:latin typeface="Calibri" pitchFamily="34" charset="0"/>
                          <a:ea typeface="Calibri" pitchFamily="34" charset="-122"/>
                          <a:cs typeface="Calibri" pitchFamily="34" charset="-120"/>
                        </a:rPr>
                        <a:t>Git URL ending in &amp;&amp; calc.exe</a:t>
                      </a:r>
                      <a:endParaRPr lang="en-US" sz="1400" dirty="0">
                        <a:latin typeface="Calibri" charset="0"/>
                        <a:ea typeface="Calibri" charset="0"/>
                        <a:cs typeface="Calibri" charset="0"/>
                      </a:endParaRPr>
                    </a:p>
                  </a:txBody>
                  <a:tcPr marL="91440" marR="91440" marT="45720" marB="45720" anchor="ctr">
                    <a:lnL w="12700" cap="flat" cmpd="sng" algn="ctr">
                      <a:solidFill>
                        <a:srgbClr val="F6FAFB"/>
                      </a:solidFill>
                      <a:prstDash val="solid"/>
                      <a:round/>
                      <a:headEnd type="none" w="med" len="med"/>
                      <a:tailEnd type="none" w="med" len="med"/>
                    </a:lnL>
                    <a:lnR w="12700" cap="flat" cmpd="sng" algn="ctr">
                      <a:solidFill>
                        <a:srgbClr val="F6FAFB"/>
                      </a:solidFill>
                      <a:prstDash val="solid"/>
                      <a:round/>
                      <a:headEnd type="none" w="med" len="med"/>
                      <a:tailEnd type="none" w="med" len="med"/>
                    </a:lnR>
                    <a:lnT w="12700" cap="flat" cmpd="sng" algn="ctr">
                      <a:solidFill>
                        <a:srgbClr val="F6FAFB"/>
                      </a:solidFill>
                      <a:prstDash val="solid"/>
                      <a:round/>
                      <a:headEnd type="none" w="med" len="med"/>
                      <a:tailEnd type="none" w="med" len="med"/>
                    </a:lnT>
                    <a:lnB w="12700" cap="flat" cmpd="sng" algn="ctr">
                      <a:solidFill>
                        <a:srgbClr val="F6FAFB"/>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7242C"/>
                          </a:solidFill>
                          <a:latin typeface="Calibri" pitchFamily="34" charset="0"/>
                          <a:ea typeface="Calibri" pitchFamily="34" charset="-122"/>
                          <a:cs typeface="Calibri" pitchFamily="34" charset="-120"/>
                        </a:rPr>
                        <a:t>Rejected before clone</a:t>
                      </a:r>
                      <a:endParaRPr lang="en-US" sz="1400" dirty="0">
                        <a:latin typeface="Calibri" charset="0"/>
                        <a:ea typeface="Calibri" charset="0"/>
                        <a:cs typeface="Calibri" charset="0"/>
                      </a:endParaRPr>
                    </a:p>
                  </a:txBody>
                  <a:tcPr marL="91440" marR="91440" marT="45720" marB="45720" anchor="ctr">
                    <a:lnL w="12700" cap="flat" cmpd="sng" algn="ctr">
                      <a:solidFill>
                        <a:srgbClr val="F6FAFB"/>
                      </a:solidFill>
                      <a:prstDash val="solid"/>
                      <a:round/>
                      <a:headEnd type="none" w="med" len="med"/>
                      <a:tailEnd type="none" w="med" len="med"/>
                    </a:lnL>
                    <a:lnR w="12700" cap="flat" cmpd="sng" algn="ctr">
                      <a:solidFill>
                        <a:srgbClr val="F6FAFB"/>
                      </a:solidFill>
                      <a:prstDash val="solid"/>
                      <a:round/>
                      <a:headEnd type="none" w="med" len="med"/>
                      <a:tailEnd type="none" w="med" len="med"/>
                    </a:lnR>
                    <a:lnT w="12700" cap="flat" cmpd="sng" algn="ctr">
                      <a:solidFill>
                        <a:srgbClr val="F6FAFB"/>
                      </a:solidFill>
                      <a:prstDash val="solid"/>
                      <a:round/>
                      <a:headEnd type="none" w="med" len="med"/>
                      <a:tailEnd type="none" w="med" len="med"/>
                    </a:lnT>
                    <a:lnB w="12700" cap="flat" cmpd="sng" algn="ctr">
                      <a:solidFill>
                        <a:srgbClr val="F6FAFB"/>
                      </a:solidFill>
                      <a:prstDash val="solid"/>
                      <a:round/>
                      <a:headEnd type="none" w="med" len="med"/>
                      <a:tailEnd type="none" w="med" len="med"/>
                    </a:lnB>
                    <a:solidFill>
                      <a:srgbClr val="FFFFFF"/>
                    </a:solidFill>
                  </a:tcPr>
                </a:tc>
                <a:tc>
                  <a:txBody>
                    <a:bodyPr/>
                    <a:lstStyle/>
                    <a:p>
                      <a:pPr algn="l" indent="0" marL="0">
                        <a:buNone/>
                      </a:pPr>
                      <a:r>
                        <a:rPr lang="en-US" sz="1400" b="1" dirty="0">
                          <a:solidFill>
                            <a:srgbClr val="0C6B62"/>
                          </a:solidFill>
                          <a:latin typeface="Calibri" pitchFamily="34" charset="0"/>
                          <a:ea typeface="Calibri" pitchFamily="34" charset="-122"/>
                          <a:cs typeface="Calibri" pitchFamily="34" charset="-120"/>
                        </a:rPr>
                        <a:t>Pass</a:t>
                      </a:r>
                      <a:endParaRPr lang="en-US" sz="1400" dirty="0">
                        <a:latin typeface="Calibri" charset="0"/>
                        <a:ea typeface="Calibri" charset="0"/>
                        <a:cs typeface="Calibri" charset="0"/>
                      </a:endParaRPr>
                    </a:p>
                  </a:txBody>
                  <a:tcPr marL="91440" marR="91440" marT="45720" marB="45720" anchor="ctr">
                    <a:lnL w="12700" cap="flat" cmpd="sng" algn="ctr">
                      <a:solidFill>
                        <a:srgbClr val="F6FAFB"/>
                      </a:solidFill>
                      <a:prstDash val="solid"/>
                      <a:round/>
                      <a:headEnd type="none" w="med" len="med"/>
                      <a:tailEnd type="none" w="med" len="med"/>
                    </a:lnL>
                    <a:lnR w="12700" cap="flat" cmpd="sng" algn="ctr">
                      <a:solidFill>
                        <a:srgbClr val="F6FAFB"/>
                      </a:solidFill>
                      <a:prstDash val="solid"/>
                      <a:round/>
                      <a:headEnd type="none" w="med" len="med"/>
                      <a:tailEnd type="none" w="med" len="med"/>
                    </a:lnR>
                    <a:lnT w="12700" cap="flat" cmpd="sng" algn="ctr">
                      <a:solidFill>
                        <a:srgbClr val="F6FAFB"/>
                      </a:solidFill>
                      <a:prstDash val="solid"/>
                      <a:round/>
                      <a:headEnd type="none" w="med" len="med"/>
                      <a:tailEnd type="none" w="med" len="med"/>
                    </a:lnT>
                    <a:lnB w="12700" cap="flat" cmpd="sng" algn="ctr">
                      <a:solidFill>
                        <a:srgbClr val="F6FAFB"/>
                      </a:solidFill>
                      <a:prstDash val="solid"/>
                      <a:round/>
                      <a:headEnd type="none" w="med" len="med"/>
                      <a:tailEnd type="none" w="med" len="med"/>
                    </a:lnB>
                    <a:solidFill>
                      <a:srgbClr val="E5F4F2"/>
                    </a:solidFill>
                  </a:tcPr>
                </a:tc>
              </a:tr>
            </a:tbl>
          </a:graphicData>
        </a:graphic>
      </p:graphicFrame>
      <p:sp>
        <p:nvSpPr>
          <p:cNvPr id="6" name="Text 3"/>
          <p:cNvSpPr/>
          <p:nvPr/>
        </p:nvSpPr>
        <p:spPr>
          <a:xfrm>
            <a:off x="502920" y="6473952"/>
            <a:ext cx="2743200" cy="256032"/>
          </a:xfrm>
          <a:prstGeom prst="rect">
            <a:avLst/>
          </a:prstGeom>
          <a:noFill/>
          <a:ln/>
        </p:spPr>
        <p:txBody>
          <a:bodyPr wrap="square" lIns="0" tIns="0" rIns="0" bIns="0" rtlCol="0" anchor="ctr"/>
          <a:lstStyle/>
          <a:p>
            <a:pPr indent="0" marL="0">
              <a:buNone/>
            </a:pPr>
            <a:r>
              <a:rPr lang="en-US" sz="1100" dirty="0">
                <a:solidFill>
                  <a:srgbClr val="5A6C76"/>
                </a:solidFill>
                <a:latin typeface="Consolas" pitchFamily="34" charset="0"/>
                <a:ea typeface="Consolas" pitchFamily="34" charset="-122"/>
                <a:cs typeface="Consolas" pitchFamily="34" charset="-120"/>
              </a:rPr>
              <a:t>supply-scan</a:t>
            </a:r>
            <a:endParaRPr lang="en-US" sz="1100" dirty="0"/>
          </a:p>
        </p:txBody>
      </p:sp>
      <p:sp>
        <p:nvSpPr>
          <p:cNvPr id="7" name="Text 4"/>
          <p:cNvSpPr/>
          <p:nvPr/>
        </p:nvSpPr>
        <p:spPr>
          <a:xfrm>
            <a:off x="10789920" y="6473952"/>
            <a:ext cx="822960" cy="256032"/>
          </a:xfrm>
          <a:prstGeom prst="rect">
            <a:avLst/>
          </a:prstGeom>
          <a:noFill/>
          <a:ln/>
        </p:spPr>
        <p:txBody>
          <a:bodyPr wrap="square" lIns="0" tIns="0" rIns="0" bIns="0" rtlCol="0" anchor="ctr"/>
          <a:lstStyle/>
          <a:p>
            <a:pPr algn="r" indent="0" marL="0">
              <a:buNone/>
            </a:pPr>
            <a:r>
              <a:rPr lang="en-US" sz="1200" dirty="0">
                <a:solidFill>
                  <a:srgbClr val="5A6C76"/>
                </a:solidFill>
                <a:latin typeface="Calibri" pitchFamily="34" charset="0"/>
                <a:ea typeface="Calibri" pitchFamily="34" charset="-122"/>
                <a:cs typeface="Calibri"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AFB"/>
        </a:solidFill>
      </p:bgPr>
    </p:bg>
    <p:spTree>
      <p:nvGrpSpPr>
        <p:cNvPr id="1" name=""/>
        <p:cNvGrpSpPr/>
        <p:nvPr/>
      </p:nvGrpSpPr>
      <p:grpSpPr>
        <a:xfrm>
          <a:off x="0" y="0"/>
          <a:ext cx="0" cy="0"/>
          <a:chOff x="0" y="0"/>
          <a:chExt cx="0" cy="0"/>
        </a:xfrm>
      </p:grpSpPr>
      <p:sp>
        <p:nvSpPr>
          <p:cNvPr id="2" name="Text 0"/>
          <p:cNvSpPr/>
          <p:nvPr/>
        </p:nvSpPr>
        <p:spPr>
          <a:xfrm>
            <a:off x="502920" y="292608"/>
            <a:ext cx="7315200" cy="256032"/>
          </a:xfrm>
          <a:prstGeom prst="rect">
            <a:avLst/>
          </a:prstGeom>
          <a:noFill/>
          <a:ln/>
        </p:spPr>
        <p:txBody>
          <a:bodyPr wrap="square" lIns="0" tIns="0" rIns="0" bIns="0" rtlCol="0" anchor="ctr"/>
          <a:lstStyle/>
          <a:p>
            <a:pPr indent="0" marL="0">
              <a:buNone/>
            </a:pPr>
            <a:r>
              <a:rPr lang="en-US" sz="1200" spc="120" kern="0" dirty="0">
                <a:solidFill>
                  <a:srgbClr val="0C6B62"/>
                </a:solidFill>
                <a:latin typeface="Consolas" pitchFamily="34" charset="0"/>
                <a:ea typeface="Consolas" pitchFamily="34" charset="-122"/>
                <a:cs typeface="Consolas" pitchFamily="34" charset="-120"/>
              </a:rPr>
              <a:t>MITIGATION</a:t>
            </a:r>
            <a:endParaRPr lang="en-US" sz="1200" dirty="0"/>
          </a:p>
        </p:txBody>
      </p:sp>
      <p:sp>
        <p:nvSpPr>
          <p:cNvPr id="3" name="Text 1"/>
          <p:cNvSpPr/>
          <p:nvPr/>
        </p:nvSpPr>
        <p:spPr>
          <a:xfrm>
            <a:off x="502920" y="585216"/>
            <a:ext cx="10972800" cy="457200"/>
          </a:xfrm>
          <a:prstGeom prst="rect">
            <a:avLst/>
          </a:prstGeom>
          <a:noFill/>
          <a:ln/>
        </p:spPr>
        <p:txBody>
          <a:bodyPr wrap="square" lIns="0" tIns="0" rIns="0" bIns="0" rtlCol="0" anchor="ctr"/>
          <a:lstStyle/>
          <a:p>
            <a:pPr indent="0" marL="0">
              <a:buNone/>
            </a:pPr>
            <a:r>
              <a:rPr lang="en-US" sz="3200" dirty="0">
                <a:solidFill>
                  <a:srgbClr val="17242C"/>
                </a:solidFill>
                <a:latin typeface="Georgia" pitchFamily="34" charset="0"/>
                <a:ea typeface="Georgia" pitchFamily="34" charset="-122"/>
                <a:cs typeface="Georgia" pitchFamily="34" charset="-120"/>
              </a:rPr>
              <a:t>The fix is an upgrade, not an exception.</a:t>
            </a:r>
            <a:endParaRPr lang="en-US" sz="3200" dirty="0"/>
          </a:p>
        </p:txBody>
      </p:sp>
      <p:sp>
        <p:nvSpPr>
          <p:cNvPr id="4" name="Shape 2"/>
          <p:cNvSpPr/>
          <p:nvPr/>
        </p:nvSpPr>
        <p:spPr>
          <a:xfrm>
            <a:off x="502920" y="1280160"/>
            <a:ext cx="5394960" cy="4892040"/>
          </a:xfrm>
          <a:prstGeom prst="roundRect">
            <a:avLst>
              <a:gd name="adj" fmla="val 1495"/>
            </a:avLst>
          </a:prstGeom>
          <a:solidFill>
            <a:srgbClr val="17242C"/>
          </a:solidFill>
          <a:ln/>
        </p:spPr>
      </p:sp>
      <p:sp>
        <p:nvSpPr>
          <p:cNvPr id="5" name="Text 3"/>
          <p:cNvSpPr/>
          <p:nvPr/>
        </p:nvSpPr>
        <p:spPr>
          <a:xfrm>
            <a:off x="777240" y="1508760"/>
            <a:ext cx="4754880" cy="274320"/>
          </a:xfrm>
          <a:prstGeom prst="rect">
            <a:avLst/>
          </a:prstGeom>
          <a:noFill/>
          <a:ln/>
        </p:spPr>
        <p:txBody>
          <a:bodyPr wrap="square" lIns="0" tIns="0" rIns="0" bIns="0" rtlCol="0" anchor="ctr"/>
          <a:lstStyle/>
          <a:p>
            <a:pPr indent="0" marL="0">
              <a:buNone/>
            </a:pPr>
            <a:r>
              <a:rPr lang="en-US" sz="1300" spc="120" kern="0" dirty="0">
                <a:solidFill>
                  <a:srgbClr val="8ED9CE"/>
                </a:solidFill>
                <a:latin typeface="Consolas" pitchFamily="34" charset="0"/>
                <a:ea typeface="Consolas" pitchFamily="34" charset="-122"/>
                <a:cs typeface="Consolas" pitchFamily="34" charset="-120"/>
              </a:rPr>
              <a:t>EXIT CODE</a:t>
            </a:r>
            <a:endParaRPr lang="en-US" sz="1300" dirty="0"/>
          </a:p>
        </p:txBody>
      </p:sp>
      <p:sp>
        <p:nvSpPr>
          <p:cNvPr id="6" name="Text 4"/>
          <p:cNvSpPr/>
          <p:nvPr/>
        </p:nvSpPr>
        <p:spPr>
          <a:xfrm>
            <a:off x="777240" y="1874520"/>
            <a:ext cx="4754880" cy="1371600"/>
          </a:xfrm>
          <a:prstGeom prst="rect">
            <a:avLst/>
          </a:prstGeom>
          <a:noFill/>
          <a:ln/>
        </p:spPr>
        <p:txBody>
          <a:bodyPr wrap="square" lIns="0" tIns="0" rIns="0" bIns="0" rtlCol="0" anchor="ctr"/>
          <a:lstStyle/>
          <a:p>
            <a:pPr indent="0" marL="0">
              <a:buNone/>
            </a:pPr>
            <a:r>
              <a:rPr lang="en-US" sz="8400" dirty="0">
                <a:solidFill>
                  <a:srgbClr val="FFFFFF"/>
                </a:solidFill>
                <a:latin typeface="Georgia" pitchFamily="34" charset="0"/>
                <a:ea typeface="Georgia" pitchFamily="34" charset="-122"/>
                <a:cs typeface="Georgia" pitchFamily="34" charset="-120"/>
              </a:rPr>
              <a:t>1</a:t>
            </a:r>
            <a:endParaRPr lang="en-US" sz="8400" dirty="0"/>
          </a:p>
        </p:txBody>
      </p:sp>
      <p:sp>
        <p:nvSpPr>
          <p:cNvPr id="7" name="Text 5"/>
          <p:cNvSpPr/>
          <p:nvPr/>
        </p:nvSpPr>
        <p:spPr>
          <a:xfrm>
            <a:off x="777240" y="3383280"/>
            <a:ext cx="4754880" cy="1371600"/>
          </a:xfrm>
          <a:prstGeom prst="rect">
            <a:avLst/>
          </a:prstGeom>
          <a:noFill/>
          <a:ln/>
        </p:spPr>
        <p:txBody>
          <a:bodyPr wrap="square" lIns="0" tIns="0" rIns="0" bIns="0" rtlCol="0" anchor="ctr"/>
          <a:lstStyle/>
          <a:p>
            <a:pPr indent="0" marL="0">
              <a:buNone/>
            </a:pPr>
            <a:r>
              <a:rPr lang="en-US" sz="1600" dirty="0">
                <a:solidFill>
                  <a:srgbClr val="D5E4E8"/>
                </a:solidFill>
                <a:latin typeface="Calibri" pitchFamily="34" charset="0"/>
                <a:ea typeface="Calibri" pitchFamily="34" charset="-122"/>
                <a:cs typeface="Calibri" pitchFamily="34" charset="-120"/>
              </a:rPr>
              <a:t>An ignore was saved for GHSA-dev on left-pad 1.2.3. The scan still exited 1. Seeing a finding is not the same as clearing it.</a:t>
            </a:r>
            <a:endParaRPr lang="en-US" sz="1600" dirty="0"/>
          </a:p>
        </p:txBody>
      </p:sp>
      <p:sp>
        <p:nvSpPr>
          <p:cNvPr id="8" name="Text 6"/>
          <p:cNvSpPr/>
          <p:nvPr/>
        </p:nvSpPr>
        <p:spPr>
          <a:xfrm>
            <a:off x="777240" y="5349240"/>
            <a:ext cx="4754880" cy="365760"/>
          </a:xfrm>
          <a:prstGeom prst="rect">
            <a:avLst/>
          </a:prstGeom>
          <a:noFill/>
          <a:ln/>
        </p:spPr>
        <p:txBody>
          <a:bodyPr wrap="square" lIns="0" tIns="0" rIns="0" bIns="0" rtlCol="0" anchor="ctr"/>
          <a:lstStyle/>
          <a:p>
            <a:pPr indent="0" marL="0">
              <a:buNone/>
            </a:pPr>
            <a:r>
              <a:rPr lang="en-US" sz="1400" dirty="0">
                <a:solidFill>
                  <a:srgbClr val="8ED9CE"/>
                </a:solidFill>
                <a:latin typeface="Calibri" pitchFamily="34" charset="0"/>
                <a:ea typeface="Calibri" pitchFamily="34" charset="-122"/>
                <a:cs typeface="Calibri" pitchFamily="34" charset="-120"/>
              </a:rPr>
              <a:t>Tested 29 October 2026.</a:t>
            </a:r>
            <a:endParaRPr lang="en-US" sz="1400" dirty="0"/>
          </a:p>
        </p:txBody>
      </p:sp>
      <p:sp>
        <p:nvSpPr>
          <p:cNvPr id="9" name="Shape 7"/>
          <p:cNvSpPr/>
          <p:nvPr/>
        </p:nvSpPr>
        <p:spPr>
          <a:xfrm>
            <a:off x="6126480" y="1280160"/>
            <a:ext cx="5532120" cy="1508760"/>
          </a:xfrm>
          <a:prstGeom prst="roundRect">
            <a:avLst>
              <a:gd name="adj" fmla="val 4848"/>
            </a:avLst>
          </a:prstGeom>
          <a:solidFill>
            <a:srgbClr val="FFFFFF"/>
          </a:solidFill>
          <a:ln/>
          <a:effectLst>
            <a:outerShdw sx="100000" sy="100000" kx="0" ky="0" algn="bl" rotWithShape="0" blurRad="127000" dist="25400" dir="8100000">
              <a:srgbClr val="17242C">
                <a:alpha val="8000"/>
              </a:srgbClr>
            </a:outerShdw>
          </a:effectLst>
        </p:spPr>
      </p:sp>
      <p:sp>
        <p:nvSpPr>
          <p:cNvPr id="10" name="Shape 8"/>
          <p:cNvSpPr/>
          <p:nvPr/>
        </p:nvSpPr>
        <p:spPr>
          <a:xfrm>
            <a:off x="6327648" y="1536192"/>
            <a:ext cx="109728" cy="1005840"/>
          </a:xfrm>
          <a:prstGeom prst="roundRect">
            <a:avLst>
              <a:gd name="adj" fmla="val 33333"/>
            </a:avLst>
          </a:prstGeom>
          <a:solidFill>
            <a:srgbClr val="0C6B62"/>
          </a:solidFill>
          <a:ln/>
        </p:spPr>
      </p:sp>
      <p:sp>
        <p:nvSpPr>
          <p:cNvPr id="11" name="Text 9"/>
          <p:cNvSpPr/>
          <p:nvPr/>
        </p:nvSpPr>
        <p:spPr>
          <a:xfrm>
            <a:off x="6629400" y="1481328"/>
            <a:ext cx="4754880" cy="365760"/>
          </a:xfrm>
          <a:prstGeom prst="rect">
            <a:avLst/>
          </a:prstGeom>
          <a:noFill/>
          <a:ln/>
        </p:spPr>
        <p:txBody>
          <a:bodyPr wrap="square" lIns="0" tIns="0" rIns="0" bIns="0" rtlCol="0" anchor="ctr"/>
          <a:lstStyle/>
          <a:p>
            <a:pPr indent="0" marL="0">
              <a:buNone/>
            </a:pPr>
            <a:r>
              <a:rPr lang="en-US" sz="1800" dirty="0">
                <a:solidFill>
                  <a:srgbClr val="17242C"/>
                </a:solidFill>
                <a:latin typeface="Georgia" pitchFamily="34" charset="0"/>
                <a:ea typeface="Georgia" pitchFamily="34" charset="-122"/>
                <a:cs typeface="Georgia" pitchFamily="34" charset="-120"/>
              </a:rPr>
              <a:t>Upgrade</a:t>
            </a:r>
            <a:endParaRPr lang="en-US" sz="1800" dirty="0"/>
          </a:p>
        </p:txBody>
      </p:sp>
      <p:sp>
        <p:nvSpPr>
          <p:cNvPr id="12" name="Text 10"/>
          <p:cNvSpPr/>
          <p:nvPr/>
        </p:nvSpPr>
        <p:spPr>
          <a:xfrm>
            <a:off x="6629400" y="1901952"/>
            <a:ext cx="4754880" cy="685800"/>
          </a:xfrm>
          <a:prstGeom prst="rect">
            <a:avLst/>
          </a:prstGeom>
          <a:noFill/>
          <a:ln/>
        </p:spPr>
        <p:txBody>
          <a:bodyPr wrap="square" lIns="0" tIns="0" rIns="0" bIns="0" rtlCol="0" anchor="ctr"/>
          <a:lstStyle/>
          <a:p>
            <a:pPr indent="0" marL="0">
              <a:buNone/>
            </a:pPr>
            <a:r>
              <a:rPr lang="en-US" sz="1400" dirty="0">
                <a:solidFill>
                  <a:srgbClr val="2C3E46"/>
                </a:solidFill>
                <a:latin typeface="Calibri" pitchFamily="34" charset="0"/>
                <a:ea typeface="Calibri" pitchFamily="34" charset="-122"/>
                <a:cs typeface="Calibri" pitchFamily="34" charset="-120"/>
              </a:rPr>
              <a:t>Two fixes, 4.17.21 and 4.17.23, collapse to one recommendation: 4.17.23.</a:t>
            </a:r>
            <a:endParaRPr lang="en-US" sz="1400" dirty="0"/>
          </a:p>
        </p:txBody>
      </p:sp>
      <p:sp>
        <p:nvSpPr>
          <p:cNvPr id="13" name="Shape 11"/>
          <p:cNvSpPr/>
          <p:nvPr/>
        </p:nvSpPr>
        <p:spPr>
          <a:xfrm>
            <a:off x="6126480" y="2926080"/>
            <a:ext cx="5532120" cy="1508760"/>
          </a:xfrm>
          <a:prstGeom prst="roundRect">
            <a:avLst>
              <a:gd name="adj" fmla="val 4848"/>
            </a:avLst>
          </a:prstGeom>
          <a:solidFill>
            <a:srgbClr val="FFFFFF"/>
          </a:solidFill>
          <a:ln/>
          <a:effectLst>
            <a:outerShdw sx="100000" sy="100000" kx="0" ky="0" algn="bl" rotWithShape="0" blurRad="127000" dist="25400" dir="8100000">
              <a:srgbClr val="17242C">
                <a:alpha val="8000"/>
              </a:srgbClr>
            </a:outerShdw>
          </a:effectLst>
        </p:spPr>
      </p:sp>
      <p:sp>
        <p:nvSpPr>
          <p:cNvPr id="14" name="Shape 12"/>
          <p:cNvSpPr/>
          <p:nvPr/>
        </p:nvSpPr>
        <p:spPr>
          <a:xfrm>
            <a:off x="6327648" y="3182112"/>
            <a:ext cx="109728" cy="1005840"/>
          </a:xfrm>
          <a:prstGeom prst="roundRect">
            <a:avLst>
              <a:gd name="adj" fmla="val 33333"/>
            </a:avLst>
          </a:prstGeom>
          <a:solidFill>
            <a:srgbClr val="0C6B62"/>
          </a:solidFill>
          <a:ln/>
        </p:spPr>
      </p:sp>
      <p:sp>
        <p:nvSpPr>
          <p:cNvPr id="15" name="Text 13"/>
          <p:cNvSpPr/>
          <p:nvPr/>
        </p:nvSpPr>
        <p:spPr>
          <a:xfrm>
            <a:off x="6629400" y="3127248"/>
            <a:ext cx="4754880" cy="365760"/>
          </a:xfrm>
          <a:prstGeom prst="rect">
            <a:avLst/>
          </a:prstGeom>
          <a:noFill/>
          <a:ln/>
        </p:spPr>
        <p:txBody>
          <a:bodyPr wrap="square" lIns="0" tIns="0" rIns="0" bIns="0" rtlCol="0" anchor="ctr"/>
          <a:lstStyle/>
          <a:p>
            <a:pPr indent="0" marL="0">
              <a:buNone/>
            </a:pPr>
            <a:r>
              <a:rPr lang="en-US" sz="1800" dirty="0">
                <a:solidFill>
                  <a:srgbClr val="17242C"/>
                </a:solidFill>
                <a:latin typeface="Georgia" pitchFamily="34" charset="0"/>
                <a:ea typeface="Georgia" pitchFamily="34" charset="-122"/>
                <a:cs typeface="Georgia" pitchFamily="34" charset="-120"/>
              </a:rPr>
              <a:t>URL allowlist</a:t>
            </a:r>
            <a:endParaRPr lang="en-US" sz="1800" dirty="0"/>
          </a:p>
        </p:txBody>
      </p:sp>
      <p:sp>
        <p:nvSpPr>
          <p:cNvPr id="16" name="Text 14"/>
          <p:cNvSpPr/>
          <p:nvPr/>
        </p:nvSpPr>
        <p:spPr>
          <a:xfrm>
            <a:off x="6629400" y="3547872"/>
            <a:ext cx="4754880" cy="685800"/>
          </a:xfrm>
          <a:prstGeom prst="rect">
            <a:avLst/>
          </a:prstGeom>
          <a:noFill/>
          <a:ln/>
        </p:spPr>
        <p:txBody>
          <a:bodyPr wrap="square" lIns="0" tIns="0" rIns="0" bIns="0" rtlCol="0" anchor="ctr"/>
          <a:lstStyle/>
          <a:p>
            <a:pPr indent="0" marL="0">
              <a:buNone/>
            </a:pPr>
            <a:r>
              <a:rPr lang="en-US" sz="1400" dirty="0">
                <a:solidFill>
                  <a:srgbClr val="2C3E46"/>
                </a:solidFill>
                <a:latin typeface="Calibri" pitchFamily="34" charset="0"/>
                <a:ea typeface="Calibri" pitchFamily="34" charset="-122"/>
                <a:cs typeface="Calibri" pitchFamily="34" charset="-120"/>
              </a:rPr>
              <a:t>A clone URL with &amp;&amp; calc.exe is rejected. Git is started with an argument list.</a:t>
            </a:r>
            <a:endParaRPr lang="en-US" sz="1400" dirty="0"/>
          </a:p>
        </p:txBody>
      </p:sp>
      <p:sp>
        <p:nvSpPr>
          <p:cNvPr id="17" name="Shape 15"/>
          <p:cNvSpPr/>
          <p:nvPr/>
        </p:nvSpPr>
        <p:spPr>
          <a:xfrm>
            <a:off x="6126480" y="4572000"/>
            <a:ext cx="5532120" cy="1508760"/>
          </a:xfrm>
          <a:prstGeom prst="roundRect">
            <a:avLst>
              <a:gd name="adj" fmla="val 4848"/>
            </a:avLst>
          </a:prstGeom>
          <a:solidFill>
            <a:srgbClr val="FFFFFF"/>
          </a:solidFill>
          <a:ln/>
          <a:effectLst>
            <a:outerShdw sx="100000" sy="100000" kx="0" ky="0" algn="bl" rotWithShape="0" blurRad="127000" dist="25400" dir="8100000">
              <a:srgbClr val="17242C">
                <a:alpha val="8000"/>
              </a:srgbClr>
            </a:outerShdw>
          </a:effectLst>
        </p:spPr>
      </p:sp>
      <p:sp>
        <p:nvSpPr>
          <p:cNvPr id="18" name="Shape 16"/>
          <p:cNvSpPr/>
          <p:nvPr/>
        </p:nvSpPr>
        <p:spPr>
          <a:xfrm>
            <a:off x="6327648" y="4828032"/>
            <a:ext cx="109728" cy="1005840"/>
          </a:xfrm>
          <a:prstGeom prst="roundRect">
            <a:avLst>
              <a:gd name="adj" fmla="val 33333"/>
            </a:avLst>
          </a:prstGeom>
          <a:solidFill>
            <a:srgbClr val="0C6B62"/>
          </a:solidFill>
          <a:ln/>
        </p:spPr>
      </p:sp>
      <p:sp>
        <p:nvSpPr>
          <p:cNvPr id="19" name="Text 17"/>
          <p:cNvSpPr/>
          <p:nvPr/>
        </p:nvSpPr>
        <p:spPr>
          <a:xfrm>
            <a:off x="6629400" y="4773168"/>
            <a:ext cx="4754880" cy="365760"/>
          </a:xfrm>
          <a:prstGeom prst="rect">
            <a:avLst/>
          </a:prstGeom>
          <a:noFill/>
          <a:ln/>
        </p:spPr>
        <p:txBody>
          <a:bodyPr wrap="square" lIns="0" tIns="0" rIns="0" bIns="0" rtlCol="0" anchor="ctr"/>
          <a:lstStyle/>
          <a:p>
            <a:pPr indent="0" marL="0">
              <a:buNone/>
            </a:pPr>
            <a:r>
              <a:rPr lang="en-US" sz="1800" dirty="0">
                <a:solidFill>
                  <a:srgbClr val="17242C"/>
                </a:solidFill>
                <a:latin typeface="Georgia" pitchFamily="34" charset="0"/>
                <a:ea typeface="Georgia" pitchFamily="34" charset="-122"/>
                <a:cs typeface="Georgia" pitchFamily="34" charset="-120"/>
              </a:rPr>
              <a:t>Loopback page</a:t>
            </a:r>
            <a:endParaRPr lang="en-US" sz="1800" dirty="0"/>
          </a:p>
        </p:txBody>
      </p:sp>
      <p:sp>
        <p:nvSpPr>
          <p:cNvPr id="20" name="Text 18"/>
          <p:cNvSpPr/>
          <p:nvPr/>
        </p:nvSpPr>
        <p:spPr>
          <a:xfrm>
            <a:off x="6629400" y="5193792"/>
            <a:ext cx="4754880" cy="685800"/>
          </a:xfrm>
          <a:prstGeom prst="rect">
            <a:avLst/>
          </a:prstGeom>
          <a:noFill/>
          <a:ln/>
        </p:spPr>
        <p:txBody>
          <a:bodyPr wrap="square" lIns="0" tIns="0" rIns="0" bIns="0" rtlCol="0" anchor="ctr"/>
          <a:lstStyle/>
          <a:p>
            <a:pPr indent="0" marL="0">
              <a:buNone/>
            </a:pPr>
            <a:r>
              <a:rPr lang="en-US" sz="1400" dirty="0">
                <a:solidFill>
                  <a:srgbClr val="2C3E46"/>
                </a:solidFill>
                <a:latin typeface="Calibri" pitchFamily="34" charset="0"/>
                <a:ea typeface="Calibri" pitchFamily="34" charset="-122"/>
                <a:cs typeface="Calibri" pitchFamily="34" charset="-120"/>
              </a:rPr>
              <a:t>The server binds 127.0.0.1. Folder uploads drop paths outside the chosen folder.</a:t>
            </a:r>
            <a:endParaRPr lang="en-US" sz="1400" dirty="0"/>
          </a:p>
        </p:txBody>
      </p:sp>
      <p:sp>
        <p:nvSpPr>
          <p:cNvPr id="21" name="Text 19"/>
          <p:cNvSpPr/>
          <p:nvPr/>
        </p:nvSpPr>
        <p:spPr>
          <a:xfrm>
            <a:off x="502920" y="6473952"/>
            <a:ext cx="2743200" cy="256032"/>
          </a:xfrm>
          <a:prstGeom prst="rect">
            <a:avLst/>
          </a:prstGeom>
          <a:noFill/>
          <a:ln/>
        </p:spPr>
        <p:txBody>
          <a:bodyPr wrap="square" lIns="0" tIns="0" rIns="0" bIns="0" rtlCol="0" anchor="ctr"/>
          <a:lstStyle/>
          <a:p>
            <a:pPr indent="0" marL="0">
              <a:buNone/>
            </a:pPr>
            <a:r>
              <a:rPr lang="en-US" sz="1100" dirty="0">
                <a:solidFill>
                  <a:srgbClr val="5A6C76"/>
                </a:solidFill>
                <a:latin typeface="Consolas" pitchFamily="34" charset="0"/>
                <a:ea typeface="Consolas" pitchFamily="34" charset="-122"/>
                <a:cs typeface="Consolas" pitchFamily="34" charset="-120"/>
              </a:rPr>
              <a:t>supply-scan</a:t>
            </a:r>
            <a:endParaRPr lang="en-US" sz="1100" dirty="0"/>
          </a:p>
        </p:txBody>
      </p:sp>
      <p:sp>
        <p:nvSpPr>
          <p:cNvPr id="22" name="Text 20"/>
          <p:cNvSpPr/>
          <p:nvPr/>
        </p:nvSpPr>
        <p:spPr>
          <a:xfrm>
            <a:off x="10789920" y="6473952"/>
            <a:ext cx="822960" cy="256032"/>
          </a:xfrm>
          <a:prstGeom prst="rect">
            <a:avLst/>
          </a:prstGeom>
          <a:noFill/>
          <a:ln/>
        </p:spPr>
        <p:txBody>
          <a:bodyPr wrap="square" lIns="0" tIns="0" rIns="0" bIns="0" rtlCol="0" anchor="ctr"/>
          <a:lstStyle/>
          <a:p>
            <a:pPr algn="r" indent="0" marL="0">
              <a:buNone/>
            </a:pPr>
            <a:r>
              <a:rPr lang="en-US" sz="1200" dirty="0">
                <a:solidFill>
                  <a:srgbClr val="5A6C76"/>
                </a:solidFill>
                <a:latin typeface="Calibri" pitchFamily="34" charset="0"/>
                <a:ea typeface="Calibri" pitchFamily="34" charset="-122"/>
                <a:cs typeface="Calibri"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7242C"/>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C6B62"/>
          </a:solidFill>
          <a:ln/>
        </p:spPr>
      </p:sp>
      <p:sp>
        <p:nvSpPr>
          <p:cNvPr id="3" name="Text 1"/>
          <p:cNvSpPr/>
          <p:nvPr/>
        </p:nvSpPr>
        <p:spPr>
          <a:xfrm>
            <a:off x="640080" y="347472"/>
            <a:ext cx="7315200" cy="256032"/>
          </a:xfrm>
          <a:prstGeom prst="rect">
            <a:avLst/>
          </a:prstGeom>
          <a:noFill/>
          <a:ln/>
        </p:spPr>
        <p:txBody>
          <a:bodyPr wrap="square" lIns="0" tIns="0" rIns="0" bIns="0" rtlCol="0" anchor="ctr"/>
          <a:lstStyle/>
          <a:p>
            <a:pPr indent="0" marL="0">
              <a:buNone/>
            </a:pPr>
            <a:r>
              <a:rPr lang="en-US" sz="1200" spc="120" kern="0" dirty="0">
                <a:solidFill>
                  <a:srgbClr val="8ED9CE"/>
                </a:solidFill>
                <a:latin typeface="Consolas" pitchFamily="34" charset="0"/>
                <a:ea typeface="Consolas" pitchFamily="34" charset="-122"/>
                <a:cs typeface="Consolas" pitchFamily="34" charset="-120"/>
              </a:rPr>
              <a:t>LIMITS</a:t>
            </a:r>
            <a:endParaRPr lang="en-US" sz="1200" dirty="0"/>
          </a:p>
        </p:txBody>
      </p:sp>
      <p:sp>
        <p:nvSpPr>
          <p:cNvPr id="4" name="Text 2"/>
          <p:cNvSpPr/>
          <p:nvPr/>
        </p:nvSpPr>
        <p:spPr>
          <a:xfrm>
            <a:off x="640080" y="685800"/>
            <a:ext cx="10972800" cy="1234440"/>
          </a:xfrm>
          <a:prstGeom prst="rect">
            <a:avLst/>
          </a:prstGeom>
          <a:noFill/>
          <a:ln/>
        </p:spPr>
        <p:txBody>
          <a:bodyPr wrap="square" lIns="0" tIns="0" rIns="0" bIns="0" rtlCol="0" anchor="ctr"/>
          <a:lstStyle/>
          <a:p>
            <a:pPr indent="0" marL="0">
              <a:buNone/>
            </a:pPr>
            <a:r>
              <a:rPr lang="en-US" sz="3000" dirty="0">
                <a:solidFill>
                  <a:srgbClr val="FFFFFF"/>
                </a:solidFill>
                <a:latin typeface="Georgia" pitchFamily="34" charset="0"/>
                <a:ea typeface="Georgia" pitchFamily="34" charset="-122"/>
                <a:cs typeface="Georgia" pitchFamily="34" charset="-120"/>
              </a:rPr>
              <a:t>Honest when it cannot resolve.</a:t>
            </a:r>
            <a:endParaRPr lang="en-US" sz="3000" dirty="0"/>
          </a:p>
          <a:p>
            <a:pPr indent="0" marL="0">
              <a:buNone/>
            </a:pPr>
            <a:r>
              <a:rPr lang="en-US" sz="3000" dirty="0">
                <a:solidFill>
                  <a:srgbClr val="FFFFFF"/>
                </a:solidFill>
                <a:latin typeface="Georgia" pitchFamily="34" charset="0"/>
                <a:ea typeface="Georgia" pitchFamily="34" charset="-122"/>
                <a:cs typeface="Georgia" pitchFamily="34" charset="-120"/>
              </a:rPr>
              <a:t>Silent never, on a production finding.</a:t>
            </a:r>
            <a:endParaRPr lang="en-US" sz="3000" dirty="0"/>
          </a:p>
        </p:txBody>
      </p:sp>
      <p:sp>
        <p:nvSpPr>
          <p:cNvPr id="5" name="Shape 3"/>
          <p:cNvSpPr/>
          <p:nvPr/>
        </p:nvSpPr>
        <p:spPr>
          <a:xfrm>
            <a:off x="640080" y="2240280"/>
            <a:ext cx="3566160" cy="3246120"/>
          </a:xfrm>
          <a:prstGeom prst="roundRect">
            <a:avLst>
              <a:gd name="adj" fmla="val 2254"/>
            </a:avLst>
          </a:prstGeom>
          <a:solidFill>
            <a:srgbClr val="21333C"/>
          </a:solidFill>
          <a:ln/>
        </p:spPr>
      </p:sp>
      <p:sp>
        <p:nvSpPr>
          <p:cNvPr id="6" name="Text 4"/>
          <p:cNvSpPr/>
          <p:nvPr/>
        </p:nvSpPr>
        <p:spPr>
          <a:xfrm>
            <a:off x="868680" y="2423160"/>
            <a:ext cx="3108960" cy="411480"/>
          </a:xfrm>
          <a:prstGeom prst="rect">
            <a:avLst/>
          </a:prstGeom>
          <a:noFill/>
          <a:ln/>
        </p:spPr>
        <p:txBody>
          <a:bodyPr wrap="square" lIns="0" tIns="0" rIns="0" bIns="0" rtlCol="0" anchor="ctr"/>
          <a:lstStyle/>
          <a:p>
            <a:pPr indent="0" marL="0">
              <a:buNone/>
            </a:pPr>
            <a:r>
              <a:rPr lang="en-US" sz="2000" dirty="0">
                <a:solidFill>
                  <a:srgbClr val="8ED9CE"/>
                </a:solidFill>
                <a:latin typeface="Georgia" pitchFamily="34" charset="0"/>
                <a:ea typeface="Georgia" pitchFamily="34" charset="-122"/>
                <a:cs typeface="Georgia" pitchFamily="34" charset="-120"/>
              </a:rPr>
              <a:t>Limits</a:t>
            </a:r>
            <a:endParaRPr lang="en-US" sz="2000" dirty="0"/>
          </a:p>
        </p:txBody>
      </p:sp>
      <p:sp>
        <p:nvSpPr>
          <p:cNvPr id="7" name="Text 5"/>
          <p:cNvSpPr/>
          <p:nvPr/>
        </p:nvSpPr>
        <p:spPr>
          <a:xfrm>
            <a:off x="868680" y="2971800"/>
            <a:ext cx="3108960" cy="2194560"/>
          </a:xfrm>
          <a:prstGeom prst="rect">
            <a:avLst/>
          </a:prstGeom>
          <a:noFill/>
          <a:ln/>
        </p:spPr>
        <p:txBody>
          <a:bodyPr wrap="square" lIns="0" tIns="0" rIns="0" bIns="0" rtlCol="0" anchor="ctr"/>
          <a:lstStyle/>
          <a:p>
            <a:pPr indent="0" marL="0">
              <a:buNone/>
            </a:pPr>
            <a:r>
              <a:rPr lang="en-US" sz="1500" dirty="0">
                <a:solidFill>
                  <a:srgbClr val="E4ECEE"/>
                </a:solidFill>
                <a:latin typeface="Calibri" pitchFamily="34" charset="0"/>
                <a:ea typeface="Calibri" pitchFamily="34" charset="-122"/>
                <a:cs typeface="Calibri" pitchFamily="34" charset="-120"/>
              </a:rPr>
              <a:t>No install step, so a range stays unchecked. No offline advisory database. No reachability proof, no pull request, no SARIF.</a:t>
            </a:r>
            <a:endParaRPr lang="en-US" sz="1500" dirty="0"/>
          </a:p>
        </p:txBody>
      </p:sp>
      <p:sp>
        <p:nvSpPr>
          <p:cNvPr id="8" name="Shape 6"/>
          <p:cNvSpPr/>
          <p:nvPr/>
        </p:nvSpPr>
        <p:spPr>
          <a:xfrm>
            <a:off x="4389120" y="2240280"/>
            <a:ext cx="3566160" cy="3246120"/>
          </a:xfrm>
          <a:prstGeom prst="roundRect">
            <a:avLst>
              <a:gd name="adj" fmla="val 2254"/>
            </a:avLst>
          </a:prstGeom>
          <a:solidFill>
            <a:srgbClr val="21333C"/>
          </a:solidFill>
          <a:ln/>
        </p:spPr>
      </p:sp>
      <p:sp>
        <p:nvSpPr>
          <p:cNvPr id="9" name="Text 7"/>
          <p:cNvSpPr/>
          <p:nvPr/>
        </p:nvSpPr>
        <p:spPr>
          <a:xfrm>
            <a:off x="4617720" y="2423160"/>
            <a:ext cx="3108960" cy="411480"/>
          </a:xfrm>
          <a:prstGeom prst="rect">
            <a:avLst/>
          </a:prstGeom>
          <a:noFill/>
          <a:ln/>
        </p:spPr>
        <p:txBody>
          <a:bodyPr wrap="square" lIns="0" tIns="0" rIns="0" bIns="0" rtlCol="0" anchor="ctr"/>
          <a:lstStyle/>
          <a:p>
            <a:pPr indent="0" marL="0">
              <a:buNone/>
            </a:pPr>
            <a:r>
              <a:rPr lang="en-US" sz="2000" dirty="0">
                <a:solidFill>
                  <a:srgbClr val="8ED9CE"/>
                </a:solidFill>
                <a:latin typeface="Georgia" pitchFamily="34" charset="0"/>
                <a:ea typeface="Georgia" pitchFamily="34" charset="-122"/>
                <a:cs typeface="Georgia" pitchFamily="34" charset="-120"/>
              </a:rPr>
              <a:t>Ethics</a:t>
            </a:r>
            <a:endParaRPr lang="en-US" sz="2000" dirty="0"/>
          </a:p>
        </p:txBody>
      </p:sp>
      <p:sp>
        <p:nvSpPr>
          <p:cNvPr id="10" name="Text 8"/>
          <p:cNvSpPr/>
          <p:nvPr/>
        </p:nvSpPr>
        <p:spPr>
          <a:xfrm>
            <a:off x="4617720" y="2971800"/>
            <a:ext cx="3108960" cy="2194560"/>
          </a:xfrm>
          <a:prstGeom prst="rect">
            <a:avLst/>
          </a:prstGeom>
          <a:noFill/>
          <a:ln/>
        </p:spPr>
        <p:txBody>
          <a:bodyPr wrap="square" lIns="0" tIns="0" rIns="0" bIns="0" rtlCol="0" anchor="ctr"/>
          <a:lstStyle/>
          <a:p>
            <a:pPr indent="0" marL="0">
              <a:buNone/>
            </a:pPr>
            <a:r>
              <a:rPr lang="en-US" sz="1500" dirty="0">
                <a:solidFill>
                  <a:srgbClr val="E4ECEE"/>
                </a:solidFill>
                <a:latin typeface="Calibri" pitchFamily="34" charset="0"/>
                <a:ea typeface="Calibri" pitchFamily="34" charset="-122"/>
                <a:cs typeface="Calibri" pitchFamily="34" charset="-120"/>
              </a:rPr>
              <a:t>The user chooses the repo. Clones are temporary. Advisories are public. The report names an upgrade and does not include exploit steps.</a:t>
            </a:r>
            <a:endParaRPr lang="en-US" sz="1500" dirty="0"/>
          </a:p>
        </p:txBody>
      </p:sp>
      <p:sp>
        <p:nvSpPr>
          <p:cNvPr id="11" name="Shape 9"/>
          <p:cNvSpPr/>
          <p:nvPr/>
        </p:nvSpPr>
        <p:spPr>
          <a:xfrm>
            <a:off x="8138160" y="2240280"/>
            <a:ext cx="3566160" cy="3246120"/>
          </a:xfrm>
          <a:prstGeom prst="roundRect">
            <a:avLst>
              <a:gd name="adj" fmla="val 2254"/>
            </a:avLst>
          </a:prstGeom>
          <a:solidFill>
            <a:srgbClr val="21333C"/>
          </a:solidFill>
          <a:ln/>
        </p:spPr>
      </p:sp>
      <p:sp>
        <p:nvSpPr>
          <p:cNvPr id="12" name="Text 10"/>
          <p:cNvSpPr/>
          <p:nvPr/>
        </p:nvSpPr>
        <p:spPr>
          <a:xfrm>
            <a:off x="8366760" y="2423160"/>
            <a:ext cx="3108960" cy="411480"/>
          </a:xfrm>
          <a:prstGeom prst="rect">
            <a:avLst/>
          </a:prstGeom>
          <a:noFill/>
          <a:ln/>
        </p:spPr>
        <p:txBody>
          <a:bodyPr wrap="square" lIns="0" tIns="0" rIns="0" bIns="0" rtlCol="0" anchor="ctr"/>
          <a:lstStyle/>
          <a:p>
            <a:pPr indent="0" marL="0">
              <a:buNone/>
            </a:pPr>
            <a:r>
              <a:rPr lang="en-US" sz="2000" dirty="0">
                <a:solidFill>
                  <a:srgbClr val="8ED9CE"/>
                </a:solidFill>
                <a:latin typeface="Georgia" pitchFamily="34" charset="0"/>
                <a:ea typeface="Georgia" pitchFamily="34" charset="-122"/>
                <a:cs typeface="Georgia" pitchFamily="34" charset="-120"/>
              </a:rPr>
              <a:t>Left parked</a:t>
            </a:r>
            <a:endParaRPr lang="en-US" sz="2000" dirty="0"/>
          </a:p>
        </p:txBody>
      </p:sp>
      <p:sp>
        <p:nvSpPr>
          <p:cNvPr id="13" name="Text 11"/>
          <p:cNvSpPr/>
          <p:nvPr/>
        </p:nvSpPr>
        <p:spPr>
          <a:xfrm>
            <a:off x="8366760" y="2971800"/>
            <a:ext cx="3108960" cy="2194560"/>
          </a:xfrm>
          <a:prstGeom prst="rect">
            <a:avLst/>
          </a:prstGeom>
          <a:noFill/>
          <a:ln/>
        </p:spPr>
        <p:txBody>
          <a:bodyPr wrap="square" lIns="0" tIns="0" rIns="0" bIns="0" rtlCol="0" anchor="ctr"/>
          <a:lstStyle/>
          <a:p>
            <a:pPr indent="0" marL="0">
              <a:buNone/>
            </a:pPr>
            <a:r>
              <a:rPr lang="en-US" sz="1500" dirty="0">
                <a:solidFill>
                  <a:srgbClr val="E4ECEE"/>
                </a:solidFill>
                <a:latin typeface="Calibri" pitchFamily="34" charset="0"/>
                <a:ea typeface="Calibri" pitchFamily="34" charset="-122"/>
                <a:cs typeface="Calibri" pitchFamily="34" charset="-120"/>
              </a:rPr>
              <a:t>A direct-only view, because transitive bugs still ship. A fully offline list, which can only mark every row unchecked.</a:t>
            </a:r>
            <a:endParaRPr lang="en-US" sz="1500" dirty="0"/>
          </a:p>
        </p:txBody>
      </p:sp>
      <p:sp>
        <p:nvSpPr>
          <p:cNvPr id="14" name="Text 12"/>
          <p:cNvSpPr/>
          <p:nvPr/>
        </p:nvSpPr>
        <p:spPr>
          <a:xfrm>
            <a:off x="10789920" y="6473952"/>
            <a:ext cx="822960" cy="256032"/>
          </a:xfrm>
          <a:prstGeom prst="rect">
            <a:avLst/>
          </a:prstGeom>
          <a:noFill/>
          <a:ln/>
        </p:spPr>
        <p:txBody>
          <a:bodyPr wrap="square" lIns="0" tIns="0" rIns="0" bIns="0" rtlCol="0" anchor="ctr"/>
          <a:lstStyle/>
          <a:p>
            <a:pPr algn="r" indent="0" marL="0">
              <a:buNone/>
            </a:pPr>
            <a:r>
              <a:rPr lang="en-US" sz="1200" dirty="0">
                <a:solidFill>
                  <a:srgbClr val="8ED9CE"/>
                </a:solidFill>
                <a:latin typeface="Calibri" pitchFamily="34" charset="0"/>
                <a:ea typeface="Calibri" pitchFamily="34" charset="-122"/>
                <a:cs typeface="Calibri" pitchFamily="34" charset="-120"/>
              </a:rPr>
              <a:t>7</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supply-scan</dc:title>
  <dc:subject>Known-vulnerable dependency versions, and the release that fixes them</dc:subject>
  <dc:creator>supply-scan</dc:creator>
  <cp:lastModifiedBy>supply-scan</cp:lastModifiedBy>
  <cp:revision>1</cp:revision>
  <dcterms:created xsi:type="dcterms:W3CDTF">2026-10-29T05:43:05Z</dcterms:created>
  <dcterms:modified xsi:type="dcterms:W3CDTF">2026-10-29T05:43:05Z</dcterms:modified>
</cp:coreProperties>
</file>